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الغلاف. يقدّم مصعب نفسه وزملاءه باختصار، ويذكر عنوان المشروع: تصميم تطبيق دليل الخدمات الصحية بمدينة دنقلا (دنقلا كير)، ثم يمهّد للانتقال لمحاور العرض.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مصعب محاور العرض السريعة: المقدمة، المشكلة، الأهداف، المنهجية، الدراسة الميدانية، ثم الخاتمة — ليعطي الحضور خريطة ذهنية لما سيأتي.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يشرح مصعب أهمية الخدمات الصحية في الحياة اليومية، ونمو مدينة دنقلا وازدياد الحاجة لوسيلة موحدة تعرّف السكان والزوار بالمرافق الصحية. يوضح أن دنقلا كير هو الاستجابة العملية لهذه الحاجة، مبنيّ بمبدأ العمل دون اتصال، مع آلية تحديث ذكية تفصيلها لاحقاً.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يوضح مصعب أن التطور التقني الحديث (Flutter، SQLite، خدمات سحابية مجانية كـGitHub، وروابط خرائط جوجل) هو ما أتاح بناء هذا النوع من التطبيقات الهجينة (تعمل محلياً وتتزامن سحابياً) بتكلفة شبه معدومة، بخلاف الحلول التقليدية التي تتطلب خوادم مخصصة.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ينتقل مصعب لعرض المشكلة الجوهرية للبحث بجملة واحدة مركّزة: لا يوجد مرجع رقمي موحد يتيح للناس معرفة مكان وخدمات المرافق الصحية بسهولة، خصوصاً في الحالات الطارئة.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يفصّل مصعب أربعة أبعاد للمشكلة: تشتت المعلومات، صعوبة تحديد المواقع بدقة، نقص المعلومات التشغيلية (ساعات العمل والاتصال)، وصعوبة إبقاء أي مصدر معلومات محدَّثاً باستمرار — وهذا البعد الأخير تحديداً هو ما دفع لاحقاً لتصميم نظام تحديث ديناميكي.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مصعب أسئلة البحث الخمسة التي يجيب عنها البحث بالتتابع: تصميم تطبيق بدون اتصال، هيكل قاعدة البيانات، الربط بخرائط جوجل، آلية التحديث التلقائي، ونظام التقييم. وبهذا ينهي مصعب جزءه وينتقل الحديث لراشد.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يبدأ راشد جزءه بعرض الهدف العام للبحث: بناء تطبيق يعمل دون اتصال، كدليل تفاعلي وقابل للتحديث المستمر لمرافق دنقلا الصحية، ثم ينتقل للأهداف الفرعية الثمانية التي تحقق هذا الهدف.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راشد أول أربعة أهداف فرعية: جمع بيانات دقيقة للمرافق، تصميم واجهات عربية RTL، بناء قاعدة بيانات SQLite، وتمكين فتح الموقع مباشرة في خرائط جوجل.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يكمل راشد الأهداف الأربعة المتبقية: آلية المزامنة عبر GitHub، لوحة تحكم الأدمن، نظام التقييم الإلكتروني، واختبار التطبيق في حالتي الاتصال وانعدامه. هذه الأهداف الأربعة هي الأكثر تقدماً تقنياً في المشروع.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راشد لقطتين حقيقيتين من التطبيق الفعلي: الشاشة الرئيسية بشبكة الأقسام، وشاشة تصفح فئة (مستشفيات ومراكز) بالبحث الفوري — ليثبت للحضور أن الأهداف المذكورة تحققت عملياً وليست نظرية فقط.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يوضح راشد ثلاثة محاور لأهمية البحث: أكاديمياً (نموذج هجين قابل للتعميم على مشاريع مشابهة)، تطبيقياً ومجتمعياً (تسريع الوصول للخدمة الصحية)، واقتصادياً (اعتماد كامل على أدوات مجانية دون تكلفة استضافة).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راشد حدود البحث الأربعة: الموضوعية (18 منشأة موثّقة)، المكانية (مدينة دنقلا)، الزمانية (2026)، والتقنية — مع التوضيح المهم أن GitHub يُستخدم كوسيط مزامنة خفيف وليس خادماً تقليدياً، مما يحافظ على استقلالية التطبيق. بهذا ينهي راشد جزءه وينتقل الحديث لمحمد.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يشرح محمد المنهج الوصفي التطبيقي المتبع، وأدوات جمع البيانات الثلاث: الزيارات الميدانية، المقابلات القصيرة مع العاملين، والتوثيق البصري (تصوير المرافق فعلياً) الذي استُخدم لاحقاً كصور حقيقية داخل التطبيق.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محمد أبرز الأدوات والتقنيات الفعلية المستخدمة في بناء المشروع: Flutter وDart، SQLite، Git وGitHub، خدمة Google Sheets وApps Script للتقييم، خرائط جوجل، ولوحة تحكم ويب مستقلة — جميعها أدوات مجانية بالكامل.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محمد موقع مدينة دنقلا وتصنيف المرافق الصحية بها إلى أربع فئات رئيسة وثّقها فريق البحث ميدانياً: المستشفيات، المراكز والمستوصفات، معامل التحاليل، والصيدليات. بهذا ينهي محمد جزءه وينتقل الحديث لكمال.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كمال أربعة تحديات واقعية واجهها الفريق أثناء جمع البيانات: غياب سجل رسمي موحد، تفاوت دقة العناوين، تفاوت تعاون بعض المرافق، وتغيّر البيانات التشغيلية بمرور الوقت — وهذا الأخير تحديداً هو ما بَرَّر لاحقاً بناء نظام تحديث ديناميكي.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يوضح كمال أن الفجوة الأساسية ليست غياب حلول تقنية عموماً، بل غياب حل مصمَّم خصيصاً لملاءمة تذبذب الإنترنت وتغيّر البيانات في دنقلا. ويعرض ثلاث نقاط مساهمة: النموذج الهجين، لوحة التحكم المستقلة، والاعتماد على روابط خرائط جوجل المباشرة بدل محرك خرائط مستقل.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يعرض كمال ثلاث لقطات حقيقية متتابعة: شاشة تفاصيل منشأة بها تقييم فعلي بالنجوم، فتح الموقع مباشرة في خرائط جوجل الحقيقية لمستشفى دنقلا التخصصي، وأخيراً القائمة الجانبية بزر تحديث البيانات وجهات اتصال الفريق — إثبات عملي لكل نقاط المساهمة المذكورة.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شريحة الختام. يشكر أحد أفراد الفريق (يُفضَّل مصعب بصفته يفتح ويغلق العرض) الحضور، ويفتح المجال للأسئلة، مع استعداد بقية الفريق للإجابة كل حسب الجزء الذي قدّمه.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1.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pic>
        <p:nvPicPr>
          <p:cNvPr id="2" name="Image 0" descr="/home/claude/presentation/images/logo_university.jpg">    </p:cNvPr>
          <p:cNvPicPr>
            <a:picLocks noChangeAspect="1"/>
          </p:cNvPicPr>
          <p:nvPr/>
        </p:nvPicPr>
        <p:blipFill>
          <a:blip r:embed="rId1"/>
          <a:stretch>
            <a:fillRect/>
          </a:stretch>
        </p:blipFill>
        <p:spPr>
          <a:xfrm>
            <a:off x="10363200" y="548640"/>
            <a:ext cx="1188720" cy="1188720"/>
          </a:xfrm>
          <a:prstGeom prst="rect">
            <a:avLst/>
          </a:prstGeom>
        </p:spPr>
      </p:pic>
      <p:pic>
        <p:nvPicPr>
          <p:cNvPr id="3" name="Image 1" descr="/home/claude/presentation/images/logo_faculty.jpg">    </p:cNvPr>
          <p:cNvPicPr>
            <a:picLocks noChangeAspect="1"/>
          </p:cNvPicPr>
          <p:nvPr/>
        </p:nvPicPr>
        <p:blipFill>
          <a:blip r:embed="rId2"/>
          <a:stretch>
            <a:fillRect/>
          </a:stretch>
        </p:blipFill>
        <p:spPr>
          <a:xfrm>
            <a:off x="670560" y="548640"/>
            <a:ext cx="1188720" cy="1188720"/>
          </a:xfrm>
          <a:prstGeom prst="rect">
            <a:avLst/>
          </a:prstGeom>
        </p:spPr>
      </p:pic>
      <p:pic>
        <p:nvPicPr>
          <p:cNvPr id="4" name="Image 2" descr="/home/claude/presentation/images/logo_app.jpg">    </p:cNvPr>
          <p:cNvPicPr>
            <a:picLocks noChangeAspect="1"/>
          </p:cNvPicPr>
          <p:nvPr/>
        </p:nvPicPr>
        <p:blipFill>
          <a:blip r:embed="rId3"/>
          <a:stretch>
            <a:fillRect/>
          </a:stretch>
        </p:blipFill>
        <p:spPr>
          <a:xfrm>
            <a:off x="5187696" y="1737360"/>
            <a:ext cx="1828800" cy="1828800"/>
          </a:xfrm>
          <a:prstGeom prst="rect">
            <a:avLst/>
          </a:prstGeom>
        </p:spPr>
      </p:pic>
      <p:sp>
        <p:nvSpPr>
          <p:cNvPr id="5" name="Text 0"/>
          <p:cNvSpPr/>
          <p:nvPr/>
        </p:nvSpPr>
        <p:spPr>
          <a:xfrm>
            <a:off x="917448" y="3703320"/>
            <a:ext cx="10360152" cy="822960"/>
          </a:xfrm>
          <a:prstGeom prst="rect">
            <a:avLst/>
          </a:prstGeom>
          <a:noFill/>
          <a:ln/>
        </p:spPr>
        <p:txBody>
          <a:bodyPr wrap="square" rtlCol="0" anchor="ctr"/>
          <a:lstStyle/>
          <a:p>
            <a:pPr rtl="1" algn="ctr" indent="0" marL="0">
              <a:buNone/>
            </a:pPr>
            <a:r>
              <a:rPr lang="en-US" sz="2800" b="1" dirty="0">
                <a:solidFill>
                  <a:srgbClr val="FFFFFF"/>
                </a:solidFill>
                <a:latin typeface="Arial" pitchFamily="34" charset="0"/>
                <a:ea typeface="Arial" pitchFamily="34" charset="-122"/>
                <a:cs typeface="Arial" pitchFamily="34" charset="-120"/>
              </a:rPr>
              <a:t>تصميم تطبيق دليل الخدمات الصحية بمدينة دنقلا</a:t>
            </a:r>
            <a:endParaRPr lang="en-US" sz="2800" dirty="0"/>
          </a:p>
        </p:txBody>
      </p:sp>
      <p:sp>
        <p:nvSpPr>
          <p:cNvPr id="6" name="Text 1"/>
          <p:cNvSpPr/>
          <p:nvPr/>
        </p:nvSpPr>
        <p:spPr>
          <a:xfrm>
            <a:off x="917448" y="4434840"/>
            <a:ext cx="10360152" cy="457200"/>
          </a:xfrm>
          <a:prstGeom prst="rect">
            <a:avLst/>
          </a:prstGeom>
          <a:noFill/>
          <a:ln/>
        </p:spPr>
        <p:txBody>
          <a:bodyPr wrap="square" rtlCol="0" anchor="ctr"/>
          <a:lstStyle/>
          <a:p>
            <a:pPr rtl="1" algn="ctr" indent="0" marL="0">
              <a:buNone/>
            </a:pPr>
            <a:r>
              <a:rPr lang="en-US" sz="1800" dirty="0">
                <a:solidFill>
                  <a:srgbClr val="9FB3C8"/>
                </a:solidFill>
                <a:latin typeface="Arial" pitchFamily="34" charset="0"/>
                <a:ea typeface="Arial" pitchFamily="34" charset="-122"/>
                <a:cs typeface="Arial" pitchFamily="34" charset="-120"/>
              </a:rPr>
              <a:t>دنقلا كير  |  Dongola Care</a:t>
            </a:r>
            <a:endParaRPr lang="en-US" sz="1800" dirty="0"/>
          </a:p>
        </p:txBody>
      </p:sp>
      <p:sp>
        <p:nvSpPr>
          <p:cNvPr id="7" name="Shape 2"/>
          <p:cNvSpPr/>
          <p:nvPr/>
        </p:nvSpPr>
        <p:spPr>
          <a:xfrm>
            <a:off x="3203448" y="5074920"/>
            <a:ext cx="5788152" cy="0"/>
          </a:xfrm>
          <a:prstGeom prst="line">
            <a:avLst/>
          </a:prstGeom>
          <a:noFill/>
          <a:ln w="12700">
            <a:solidFill>
              <a:srgbClr val="5B7A99"/>
            </a:solidFill>
            <a:prstDash val="solid"/>
          </a:ln>
        </p:spPr>
      </p:sp>
      <p:sp>
        <p:nvSpPr>
          <p:cNvPr id="8" name="Text 3"/>
          <p:cNvSpPr/>
          <p:nvPr/>
        </p:nvSpPr>
        <p:spPr>
          <a:xfrm>
            <a:off x="917448" y="5212080"/>
            <a:ext cx="10360152" cy="320040"/>
          </a:xfrm>
          <a:prstGeom prst="rect">
            <a:avLst/>
          </a:prstGeom>
          <a:noFill/>
          <a:ln/>
        </p:spPr>
        <p:txBody>
          <a:bodyPr wrap="square" rtlCol="0" anchor="ctr"/>
          <a:lstStyle/>
          <a:p>
            <a:pPr rtl="1" algn="ctr" indent="0" marL="0">
              <a:buNone/>
            </a:pPr>
            <a:r>
              <a:rPr lang="en-US" sz="1300" b="1" dirty="0">
                <a:solidFill>
                  <a:srgbClr val="5B7A99"/>
                </a:solidFill>
                <a:latin typeface="Arial" pitchFamily="34" charset="0"/>
                <a:ea typeface="Arial" pitchFamily="34" charset="-122"/>
                <a:cs typeface="Arial" pitchFamily="34" charset="-120"/>
              </a:rPr>
              <a:t>إعداد الطلاب:</a:t>
            </a:r>
            <a:endParaRPr lang="en-US" sz="1300" dirty="0"/>
          </a:p>
        </p:txBody>
      </p:sp>
      <p:sp>
        <p:nvSpPr>
          <p:cNvPr id="9" name="Text 4"/>
          <p:cNvSpPr/>
          <p:nvPr/>
        </p:nvSpPr>
        <p:spPr>
          <a:xfrm>
            <a:off x="917448" y="5532120"/>
            <a:ext cx="10360152" cy="914400"/>
          </a:xfrm>
          <a:prstGeom prst="rect">
            <a:avLst/>
          </a:prstGeom>
          <a:noFill/>
          <a:ln/>
        </p:spPr>
        <p:txBody>
          <a:bodyPr wrap="square" rtlCol="0" anchor="ctr"/>
          <a:lstStyle/>
          <a:p>
            <a:pPr rtl="1" algn="ctr" indent="0" marL="0">
              <a:lnSpc>
                <a:spcPct val="130000"/>
              </a:lnSpc>
              <a:buNone/>
            </a:pPr>
            <a:r>
              <a:rPr lang="en-US" sz="1300" dirty="0">
                <a:solidFill>
                  <a:srgbClr val="FFFFFF"/>
                </a:solidFill>
                <a:latin typeface="Arial" pitchFamily="34" charset="0"/>
                <a:ea typeface="Arial" pitchFamily="34" charset="-122"/>
                <a:cs typeface="Arial" pitchFamily="34" charset="-120"/>
              </a:rPr>
              <a:t>مصعب عبدالوهاب عبدالرحمن البكري</a:t>
            </a:r>
            <a:endParaRPr lang="en-US" sz="1300" dirty="0"/>
          </a:p>
          <a:p>
            <a:pPr rtl="1" algn="ctr" indent="0" marL="0">
              <a:lnSpc>
                <a:spcPct val="130000"/>
              </a:lnSpc>
              <a:buNone/>
            </a:pPr>
            <a:r>
              <a:rPr lang="en-US" sz="1300" dirty="0">
                <a:solidFill>
                  <a:srgbClr val="FFFFFF"/>
                </a:solidFill>
                <a:latin typeface="Arial" pitchFamily="34" charset="0"/>
                <a:ea typeface="Arial" pitchFamily="34" charset="-122"/>
                <a:cs typeface="Arial" pitchFamily="34" charset="-120"/>
              </a:rPr>
              <a:t>راشد إسحاق إبراهيم إسماعيل</a:t>
            </a:r>
            <a:endParaRPr lang="en-US" sz="1300" dirty="0"/>
          </a:p>
          <a:p>
            <a:pPr rtl="1" algn="ctr" indent="0" marL="0">
              <a:lnSpc>
                <a:spcPct val="130000"/>
              </a:lnSpc>
              <a:buNone/>
            </a:pPr>
            <a:r>
              <a:rPr lang="en-US" sz="1300" dirty="0">
                <a:solidFill>
                  <a:srgbClr val="FFFFFF"/>
                </a:solidFill>
                <a:latin typeface="Arial" pitchFamily="34" charset="0"/>
                <a:ea typeface="Arial" pitchFamily="34" charset="-122"/>
                <a:cs typeface="Arial" pitchFamily="34" charset="-120"/>
              </a:rPr>
              <a:t>محمد عطا ساتي شريف</a:t>
            </a:r>
            <a:endParaRPr lang="en-US" sz="1300" dirty="0"/>
          </a:p>
          <a:p>
            <a:pPr rtl="1" algn="ctr" indent="0" marL="0">
              <a:lnSpc>
                <a:spcPct val="130000"/>
              </a:lnSpc>
              <a:buNone/>
            </a:pPr>
            <a:r>
              <a:rPr lang="en-US" sz="1300" dirty="0">
                <a:solidFill>
                  <a:srgbClr val="FFFFFF"/>
                </a:solidFill>
                <a:latin typeface="Arial" pitchFamily="34" charset="0"/>
                <a:ea typeface="Arial" pitchFamily="34" charset="-122"/>
                <a:cs typeface="Arial" pitchFamily="34" charset="-120"/>
              </a:rPr>
              <a:t>كمال خليفة عزالدين خليفة</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محاور العرض</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Presentation Agenda</a:t>
            </a:r>
            <a:endParaRPr lang="en-US" sz="1400" dirty="0"/>
          </a:p>
        </p:txBody>
      </p:sp>
      <p:sp>
        <p:nvSpPr>
          <p:cNvPr id="4" name="Shape 2"/>
          <p:cNvSpPr/>
          <p:nvPr/>
        </p:nvSpPr>
        <p:spPr>
          <a:xfrm>
            <a:off x="6156960" y="1554480"/>
            <a:ext cx="5394960" cy="1143000"/>
          </a:xfrm>
          <a:prstGeom prst="roundRect">
            <a:avLst>
              <a:gd name="adj" fmla="val 8000"/>
            </a:avLst>
          </a:prstGeom>
          <a:solidFill>
            <a:srgbClr val="F4F5F7"/>
          </a:solidFill>
          <a:ln w="12700">
            <a:solidFill>
              <a:srgbClr val="E7ECF2"/>
            </a:solidFill>
            <a:prstDash val="solid"/>
          </a:ln>
        </p:spPr>
      </p:sp>
      <p:pic>
        <p:nvPicPr>
          <p:cNvPr id="5" name="Image 0" descr="/home/claude/presentation/icons/bulb_1B3A5C.png">    </p:cNvPr>
          <p:cNvPicPr>
            <a:picLocks noChangeAspect="1"/>
          </p:cNvPicPr>
          <p:nvPr/>
        </p:nvPicPr>
        <p:blipFill>
          <a:blip r:embed="rId1"/>
          <a:stretch>
            <a:fillRect/>
          </a:stretch>
        </p:blipFill>
        <p:spPr>
          <a:xfrm>
            <a:off x="10728960" y="1828800"/>
            <a:ext cx="594360" cy="594360"/>
          </a:xfrm>
          <a:prstGeom prst="rect">
            <a:avLst/>
          </a:prstGeom>
        </p:spPr>
      </p:pic>
      <p:sp>
        <p:nvSpPr>
          <p:cNvPr id="6" name="Text 3"/>
          <p:cNvSpPr/>
          <p:nvPr/>
        </p:nvSpPr>
        <p:spPr>
          <a:xfrm>
            <a:off x="6339840" y="155448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المقدمة والخلفية التقنية</a:t>
            </a:r>
            <a:endParaRPr lang="en-US" sz="1600" dirty="0"/>
          </a:p>
        </p:txBody>
      </p:sp>
      <p:sp>
        <p:nvSpPr>
          <p:cNvPr id="7" name="Shape 4"/>
          <p:cNvSpPr/>
          <p:nvPr/>
        </p:nvSpPr>
        <p:spPr>
          <a:xfrm>
            <a:off x="304800" y="1554480"/>
            <a:ext cx="5394960" cy="1143000"/>
          </a:xfrm>
          <a:prstGeom prst="roundRect">
            <a:avLst>
              <a:gd name="adj" fmla="val 8000"/>
            </a:avLst>
          </a:prstGeom>
          <a:solidFill>
            <a:srgbClr val="F4F5F7"/>
          </a:solidFill>
          <a:ln w="12700">
            <a:solidFill>
              <a:srgbClr val="E7ECF2"/>
            </a:solidFill>
            <a:prstDash val="solid"/>
          </a:ln>
        </p:spPr>
      </p:sp>
      <p:pic>
        <p:nvPicPr>
          <p:cNvPr id="8" name="Image 1" descr="/home/claude/presentation/icons/warning_1B3A5C.png">    </p:cNvPr>
          <p:cNvPicPr>
            <a:picLocks noChangeAspect="1"/>
          </p:cNvPicPr>
          <p:nvPr/>
        </p:nvPicPr>
        <p:blipFill>
          <a:blip r:embed="rId2"/>
          <a:stretch>
            <a:fillRect/>
          </a:stretch>
        </p:blipFill>
        <p:spPr>
          <a:xfrm>
            <a:off x="4876800" y="1828800"/>
            <a:ext cx="594360" cy="594360"/>
          </a:xfrm>
          <a:prstGeom prst="rect">
            <a:avLst/>
          </a:prstGeom>
        </p:spPr>
      </p:pic>
      <p:sp>
        <p:nvSpPr>
          <p:cNvPr id="9" name="Text 5"/>
          <p:cNvSpPr/>
          <p:nvPr/>
        </p:nvSpPr>
        <p:spPr>
          <a:xfrm>
            <a:off x="487680" y="155448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مشكلة البحث وأسئلته</a:t>
            </a:r>
            <a:endParaRPr lang="en-US" sz="1600" dirty="0"/>
          </a:p>
        </p:txBody>
      </p:sp>
      <p:sp>
        <p:nvSpPr>
          <p:cNvPr id="10" name="Shape 6"/>
          <p:cNvSpPr/>
          <p:nvPr/>
        </p:nvSpPr>
        <p:spPr>
          <a:xfrm>
            <a:off x="6156960" y="2971800"/>
            <a:ext cx="5394960" cy="1143000"/>
          </a:xfrm>
          <a:prstGeom prst="roundRect">
            <a:avLst>
              <a:gd name="adj" fmla="val 8000"/>
            </a:avLst>
          </a:prstGeom>
          <a:solidFill>
            <a:srgbClr val="F4F5F7"/>
          </a:solidFill>
          <a:ln w="12700">
            <a:solidFill>
              <a:srgbClr val="E7ECF2"/>
            </a:solidFill>
            <a:prstDash val="solid"/>
          </a:ln>
        </p:spPr>
      </p:sp>
      <p:pic>
        <p:nvPicPr>
          <p:cNvPr id="11" name="Image 2" descr="/home/claude/presentation/icons/target_1B3A5C.png">    </p:cNvPr>
          <p:cNvPicPr>
            <a:picLocks noChangeAspect="1"/>
          </p:cNvPicPr>
          <p:nvPr/>
        </p:nvPicPr>
        <p:blipFill>
          <a:blip r:embed="rId3"/>
          <a:stretch>
            <a:fillRect/>
          </a:stretch>
        </p:blipFill>
        <p:spPr>
          <a:xfrm>
            <a:off x="10728960" y="3246120"/>
            <a:ext cx="594360" cy="594360"/>
          </a:xfrm>
          <a:prstGeom prst="rect">
            <a:avLst/>
          </a:prstGeom>
        </p:spPr>
      </p:pic>
      <p:sp>
        <p:nvSpPr>
          <p:cNvPr id="12" name="Text 7"/>
          <p:cNvSpPr/>
          <p:nvPr/>
        </p:nvSpPr>
        <p:spPr>
          <a:xfrm>
            <a:off x="6339840" y="297180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أهداف وأهمية وحدود البحث</a:t>
            </a:r>
            <a:endParaRPr lang="en-US" sz="1600" dirty="0"/>
          </a:p>
        </p:txBody>
      </p:sp>
      <p:sp>
        <p:nvSpPr>
          <p:cNvPr id="13" name="Shape 8"/>
          <p:cNvSpPr/>
          <p:nvPr/>
        </p:nvSpPr>
        <p:spPr>
          <a:xfrm>
            <a:off x="304800" y="2971800"/>
            <a:ext cx="5394960" cy="1143000"/>
          </a:xfrm>
          <a:prstGeom prst="roundRect">
            <a:avLst>
              <a:gd name="adj" fmla="val 8000"/>
            </a:avLst>
          </a:prstGeom>
          <a:solidFill>
            <a:srgbClr val="F4F5F7"/>
          </a:solidFill>
          <a:ln w="12700">
            <a:solidFill>
              <a:srgbClr val="E7ECF2"/>
            </a:solidFill>
            <a:prstDash val="solid"/>
          </a:ln>
        </p:spPr>
      </p:sp>
      <p:pic>
        <p:nvPicPr>
          <p:cNvPr id="14" name="Image 3" descr="/home/claude/presentation/icons/tools_1B3A5C.png">    </p:cNvPr>
          <p:cNvPicPr>
            <a:picLocks noChangeAspect="1"/>
          </p:cNvPicPr>
          <p:nvPr/>
        </p:nvPicPr>
        <p:blipFill>
          <a:blip r:embed="rId4"/>
          <a:stretch>
            <a:fillRect/>
          </a:stretch>
        </p:blipFill>
        <p:spPr>
          <a:xfrm>
            <a:off x="4876800" y="3246120"/>
            <a:ext cx="594360" cy="594360"/>
          </a:xfrm>
          <a:prstGeom prst="rect">
            <a:avLst/>
          </a:prstGeom>
        </p:spPr>
      </p:pic>
      <p:sp>
        <p:nvSpPr>
          <p:cNvPr id="15" name="Text 9"/>
          <p:cNvSpPr/>
          <p:nvPr/>
        </p:nvSpPr>
        <p:spPr>
          <a:xfrm>
            <a:off x="487680" y="297180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منهجية البحث وأدوات التطوير</a:t>
            </a:r>
            <a:endParaRPr lang="en-US" sz="1600" dirty="0"/>
          </a:p>
        </p:txBody>
      </p:sp>
      <p:sp>
        <p:nvSpPr>
          <p:cNvPr id="16" name="Shape 10"/>
          <p:cNvSpPr/>
          <p:nvPr/>
        </p:nvSpPr>
        <p:spPr>
          <a:xfrm>
            <a:off x="6156960" y="4389120"/>
            <a:ext cx="5394960" cy="1143000"/>
          </a:xfrm>
          <a:prstGeom prst="roundRect">
            <a:avLst>
              <a:gd name="adj" fmla="val 8000"/>
            </a:avLst>
          </a:prstGeom>
          <a:solidFill>
            <a:srgbClr val="F4F5F7"/>
          </a:solidFill>
          <a:ln w="12700">
            <a:solidFill>
              <a:srgbClr val="E7ECF2"/>
            </a:solidFill>
            <a:prstDash val="solid"/>
          </a:ln>
        </p:spPr>
      </p:sp>
      <p:pic>
        <p:nvPicPr>
          <p:cNvPr id="17" name="Image 4" descr="/home/claude/presentation/icons/map_1B3A5C.png">    </p:cNvPr>
          <p:cNvPicPr>
            <a:picLocks noChangeAspect="1"/>
          </p:cNvPicPr>
          <p:nvPr/>
        </p:nvPicPr>
        <p:blipFill>
          <a:blip r:embed="rId5"/>
          <a:stretch>
            <a:fillRect/>
          </a:stretch>
        </p:blipFill>
        <p:spPr>
          <a:xfrm>
            <a:off x="10728960" y="4663440"/>
            <a:ext cx="594360" cy="594360"/>
          </a:xfrm>
          <a:prstGeom prst="rect">
            <a:avLst/>
          </a:prstGeom>
        </p:spPr>
      </p:pic>
      <p:sp>
        <p:nvSpPr>
          <p:cNvPr id="18" name="Text 11"/>
          <p:cNvSpPr/>
          <p:nvPr/>
        </p:nvSpPr>
        <p:spPr>
          <a:xfrm>
            <a:off x="6339840" y="438912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الدراسة الميدانية لمدينة دنقلا</a:t>
            </a:r>
            <a:endParaRPr lang="en-US" sz="1600" dirty="0"/>
          </a:p>
        </p:txBody>
      </p:sp>
      <p:sp>
        <p:nvSpPr>
          <p:cNvPr id="19" name="Shape 12"/>
          <p:cNvSpPr/>
          <p:nvPr/>
        </p:nvSpPr>
        <p:spPr>
          <a:xfrm>
            <a:off x="304800" y="4389120"/>
            <a:ext cx="5394960" cy="1143000"/>
          </a:xfrm>
          <a:prstGeom prst="roundRect">
            <a:avLst>
              <a:gd name="adj" fmla="val 8000"/>
            </a:avLst>
          </a:prstGeom>
          <a:solidFill>
            <a:srgbClr val="F4F5F7"/>
          </a:solidFill>
          <a:ln w="12700">
            <a:solidFill>
              <a:srgbClr val="E7ECF2"/>
            </a:solidFill>
            <a:prstDash val="solid"/>
          </a:ln>
        </p:spPr>
      </p:sp>
      <p:pic>
        <p:nvPicPr>
          <p:cNvPr id="20" name="Image 5" descr="/home/claude/presentation/icons/check_1B3A5C.png">    </p:cNvPr>
          <p:cNvPicPr>
            <a:picLocks noChangeAspect="1"/>
          </p:cNvPicPr>
          <p:nvPr/>
        </p:nvPicPr>
        <p:blipFill>
          <a:blip r:embed="rId6"/>
          <a:stretch>
            <a:fillRect/>
          </a:stretch>
        </p:blipFill>
        <p:spPr>
          <a:xfrm>
            <a:off x="4876800" y="4663440"/>
            <a:ext cx="594360" cy="594360"/>
          </a:xfrm>
          <a:prstGeom prst="rect">
            <a:avLst/>
          </a:prstGeom>
        </p:spPr>
      </p:pic>
      <p:sp>
        <p:nvSpPr>
          <p:cNvPr id="21" name="Text 13"/>
          <p:cNvSpPr/>
          <p:nvPr/>
        </p:nvSpPr>
        <p:spPr>
          <a:xfrm>
            <a:off x="487680" y="4389120"/>
            <a:ext cx="4206240" cy="1143000"/>
          </a:xfrm>
          <a:prstGeom prst="rect">
            <a:avLst/>
          </a:prstGeom>
          <a:noFill/>
          <a:ln/>
        </p:spPr>
        <p:txBody>
          <a:bodyPr wrap="square" rtlCol="0" anchor="ctr"/>
          <a:lstStyle/>
          <a:p>
            <a:pPr rtl="1" algn="l" indent="0" marL="0">
              <a:buNone/>
            </a:pPr>
            <a:r>
              <a:rPr lang="en-US" sz="1600" b="1" dirty="0">
                <a:solidFill>
                  <a:srgbClr val="1D2939"/>
                </a:solidFill>
                <a:latin typeface="Arial" pitchFamily="34" charset="0"/>
                <a:ea typeface="Arial" pitchFamily="34" charset="-122"/>
                <a:cs typeface="Arial" pitchFamily="34" charset="-120"/>
              </a:rPr>
              <a:t>الفجوة والمساهمة، والخاتمة</a:t>
            </a:r>
            <a:endParaRPr lang="en-US" sz="1600" dirty="0"/>
          </a:p>
        </p:txBody>
      </p:sp>
      <p:sp>
        <p:nvSpPr>
          <p:cNvPr id="22"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3"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المقدمة</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Introduction</a:t>
            </a:r>
            <a:endParaRPr lang="en-US" sz="1400" dirty="0"/>
          </a:p>
        </p:txBody>
      </p:sp>
      <p:sp>
        <p:nvSpPr>
          <p:cNvPr id="4" name="Shape 2"/>
          <p:cNvSpPr/>
          <p:nvPr/>
        </p:nvSpPr>
        <p:spPr>
          <a:xfrm>
            <a:off x="11423904" y="1801368"/>
            <a:ext cx="128016" cy="128016"/>
          </a:xfrm>
          <a:prstGeom prst="oval">
            <a:avLst/>
          </a:prstGeom>
          <a:solidFill>
            <a:srgbClr val="5B7A99"/>
          </a:solidFill>
          <a:ln/>
        </p:spPr>
      </p:sp>
      <p:sp>
        <p:nvSpPr>
          <p:cNvPr id="5" name="Text 3"/>
          <p:cNvSpPr/>
          <p:nvPr/>
        </p:nvSpPr>
        <p:spPr>
          <a:xfrm>
            <a:off x="944880" y="1691640"/>
            <a:ext cx="10332720" cy="685800"/>
          </a:xfrm>
          <a:prstGeom prst="rect">
            <a:avLst/>
          </a:prstGeom>
          <a:noFill/>
          <a:ln/>
        </p:spPr>
        <p:txBody>
          <a:bodyPr wrap="square" rtlCol="0" anchor="ctr"/>
          <a:lstStyle/>
          <a:p>
            <a:pPr rtl="1" algn="r" indent="0" marL="0">
              <a:buNone/>
            </a:pPr>
            <a:r>
              <a:rPr lang="en-US" sz="1700" dirty="0">
                <a:solidFill>
                  <a:srgbClr val="1D2939"/>
                </a:solidFill>
                <a:latin typeface="Arial" pitchFamily="34" charset="0"/>
                <a:ea typeface="Arial" pitchFamily="34" charset="-122"/>
                <a:cs typeface="Arial" pitchFamily="34" charset="-120"/>
              </a:rPr>
              <a:t>الخدمات الصحية من أهم القطاعات المرتبطة بحياة الإنسان اليومية مباشرة</a:t>
            </a:r>
            <a:endParaRPr lang="en-US" sz="1700" dirty="0"/>
          </a:p>
        </p:txBody>
      </p:sp>
      <p:sp>
        <p:nvSpPr>
          <p:cNvPr id="6" name="Shape 4"/>
          <p:cNvSpPr/>
          <p:nvPr/>
        </p:nvSpPr>
        <p:spPr>
          <a:xfrm>
            <a:off x="11423904" y="2670048"/>
            <a:ext cx="128016" cy="128016"/>
          </a:xfrm>
          <a:prstGeom prst="oval">
            <a:avLst/>
          </a:prstGeom>
          <a:solidFill>
            <a:srgbClr val="5B7A99"/>
          </a:solidFill>
          <a:ln/>
        </p:spPr>
      </p:sp>
      <p:sp>
        <p:nvSpPr>
          <p:cNvPr id="7" name="Text 5"/>
          <p:cNvSpPr/>
          <p:nvPr/>
        </p:nvSpPr>
        <p:spPr>
          <a:xfrm>
            <a:off x="944880" y="2560320"/>
            <a:ext cx="10332720" cy="685800"/>
          </a:xfrm>
          <a:prstGeom prst="rect">
            <a:avLst/>
          </a:prstGeom>
          <a:noFill/>
          <a:ln/>
        </p:spPr>
        <p:txBody>
          <a:bodyPr wrap="square" rtlCol="0" anchor="ctr"/>
          <a:lstStyle/>
          <a:p>
            <a:pPr rtl="1" algn="r" indent="0" marL="0">
              <a:buNone/>
            </a:pPr>
            <a:r>
              <a:rPr lang="en-US" sz="1700" dirty="0">
                <a:solidFill>
                  <a:srgbClr val="1D2939"/>
                </a:solidFill>
                <a:latin typeface="Arial" pitchFamily="34" charset="0"/>
                <a:ea typeface="Arial" pitchFamily="34" charset="-122"/>
                <a:cs typeface="Arial" pitchFamily="34" charset="-120"/>
              </a:rPr>
              <a:t>نمو عمراني وسكاني متسارع بمدينة دنقلا (عاصمة الولاية الشمالية)</a:t>
            </a:r>
            <a:endParaRPr lang="en-US" sz="1700" dirty="0"/>
          </a:p>
        </p:txBody>
      </p:sp>
      <p:sp>
        <p:nvSpPr>
          <p:cNvPr id="8" name="Shape 6"/>
          <p:cNvSpPr/>
          <p:nvPr/>
        </p:nvSpPr>
        <p:spPr>
          <a:xfrm>
            <a:off x="11423904" y="3538728"/>
            <a:ext cx="128016" cy="128016"/>
          </a:xfrm>
          <a:prstGeom prst="oval">
            <a:avLst/>
          </a:prstGeom>
          <a:solidFill>
            <a:srgbClr val="5B7A99"/>
          </a:solidFill>
          <a:ln/>
        </p:spPr>
      </p:sp>
      <p:sp>
        <p:nvSpPr>
          <p:cNvPr id="9" name="Text 7"/>
          <p:cNvSpPr/>
          <p:nvPr/>
        </p:nvSpPr>
        <p:spPr>
          <a:xfrm>
            <a:off x="944880" y="3429000"/>
            <a:ext cx="10332720" cy="685800"/>
          </a:xfrm>
          <a:prstGeom prst="rect">
            <a:avLst/>
          </a:prstGeom>
          <a:noFill/>
          <a:ln/>
        </p:spPr>
        <p:txBody>
          <a:bodyPr wrap="square" rtlCol="0" anchor="ctr"/>
          <a:lstStyle/>
          <a:p>
            <a:pPr rtl="1" algn="r" indent="0" marL="0">
              <a:buNone/>
            </a:pPr>
            <a:r>
              <a:rPr lang="en-US" sz="1700" dirty="0">
                <a:solidFill>
                  <a:srgbClr val="1D2939"/>
                </a:solidFill>
                <a:latin typeface="Arial" pitchFamily="34" charset="0"/>
                <a:ea typeface="Arial" pitchFamily="34" charset="-122"/>
                <a:cs typeface="Arial" pitchFamily="34" charset="-120"/>
              </a:rPr>
              <a:t>غياب وسيلة رقمية موحدة لمعرفة مواقع المرافق الصحية وخدماتها</a:t>
            </a:r>
            <a:endParaRPr lang="en-US" sz="1700" dirty="0"/>
          </a:p>
        </p:txBody>
      </p:sp>
      <p:sp>
        <p:nvSpPr>
          <p:cNvPr id="10" name="Shape 8"/>
          <p:cNvSpPr/>
          <p:nvPr/>
        </p:nvSpPr>
        <p:spPr>
          <a:xfrm>
            <a:off x="11423904" y="4407408"/>
            <a:ext cx="128016" cy="128016"/>
          </a:xfrm>
          <a:prstGeom prst="oval">
            <a:avLst/>
          </a:prstGeom>
          <a:solidFill>
            <a:srgbClr val="5B7A99"/>
          </a:solidFill>
          <a:ln/>
        </p:spPr>
      </p:sp>
      <p:sp>
        <p:nvSpPr>
          <p:cNvPr id="11" name="Text 9"/>
          <p:cNvSpPr/>
          <p:nvPr/>
        </p:nvSpPr>
        <p:spPr>
          <a:xfrm>
            <a:off x="944880" y="4297680"/>
            <a:ext cx="10332720" cy="685800"/>
          </a:xfrm>
          <a:prstGeom prst="rect">
            <a:avLst/>
          </a:prstGeom>
          <a:noFill/>
          <a:ln/>
        </p:spPr>
        <p:txBody>
          <a:bodyPr wrap="square" rtlCol="0" anchor="ctr"/>
          <a:lstStyle/>
          <a:p>
            <a:pPr rtl="1" algn="r" indent="0" marL="0">
              <a:buNone/>
            </a:pPr>
            <a:r>
              <a:rPr lang="en-US" sz="1700" dirty="0">
                <a:solidFill>
                  <a:srgbClr val="1D2939"/>
                </a:solidFill>
                <a:latin typeface="Arial" pitchFamily="34" charset="0"/>
                <a:ea typeface="Arial" pitchFamily="34" charset="-122"/>
                <a:cs typeface="Arial" pitchFamily="34" charset="-120"/>
              </a:rPr>
              <a:t>“دنقلا كير”: تطبيق محمول يعمل دون اتصال أولاً (Offline-First) بإطار Flutter</a:t>
            </a:r>
            <a:endParaRPr lang="en-US" sz="1700" dirty="0"/>
          </a:p>
        </p:txBody>
      </p:sp>
      <p:sp>
        <p:nvSpPr>
          <p:cNvPr id="12" name="Shape 10"/>
          <p:cNvSpPr/>
          <p:nvPr/>
        </p:nvSpPr>
        <p:spPr>
          <a:xfrm>
            <a:off x="11423904" y="5276088"/>
            <a:ext cx="128016" cy="128016"/>
          </a:xfrm>
          <a:prstGeom prst="oval">
            <a:avLst/>
          </a:prstGeom>
          <a:solidFill>
            <a:srgbClr val="5B7A99"/>
          </a:solidFill>
          <a:ln/>
        </p:spPr>
      </p:sp>
      <p:sp>
        <p:nvSpPr>
          <p:cNvPr id="13" name="Text 11"/>
          <p:cNvSpPr/>
          <p:nvPr/>
        </p:nvSpPr>
        <p:spPr>
          <a:xfrm>
            <a:off x="944880" y="5166360"/>
            <a:ext cx="10332720" cy="685800"/>
          </a:xfrm>
          <a:prstGeom prst="rect">
            <a:avLst/>
          </a:prstGeom>
          <a:noFill/>
          <a:ln/>
        </p:spPr>
        <p:txBody>
          <a:bodyPr wrap="square" rtlCol="0" anchor="ctr"/>
          <a:lstStyle/>
          <a:p>
            <a:pPr rtl="1" algn="r" indent="0" marL="0">
              <a:buNone/>
            </a:pPr>
            <a:r>
              <a:rPr lang="en-US" sz="1700" dirty="0">
                <a:solidFill>
                  <a:srgbClr val="1D2939"/>
                </a:solidFill>
                <a:latin typeface="Arial" pitchFamily="34" charset="0"/>
                <a:ea typeface="Arial" pitchFamily="34" charset="-122"/>
                <a:cs typeface="Arial" pitchFamily="34" charset="-120"/>
              </a:rPr>
              <a:t>آلية تحديث ذكية عبر لوحة تحكم إلكترونية، دون الحاجة لإعادة نشر التطبيق</a:t>
            </a:r>
            <a:endParaRPr lang="en-US" sz="1700" dirty="0"/>
          </a:p>
        </p:txBody>
      </p:sp>
      <p:sp>
        <p:nvSpPr>
          <p:cNvPr id="14" name="Text 12"/>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5" name="Text 13"/>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الخلفية التقنية: لماذا الآن؟</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Enabling Technologies</a:t>
            </a:r>
            <a:endParaRPr lang="en-US" sz="1400" dirty="0"/>
          </a:p>
        </p:txBody>
      </p:sp>
      <p:sp>
        <p:nvSpPr>
          <p:cNvPr id="4" name="Shape 2"/>
          <p:cNvSpPr/>
          <p:nvPr/>
        </p:nvSpPr>
        <p:spPr>
          <a:xfrm>
            <a:off x="8945880" y="1737360"/>
            <a:ext cx="2606040" cy="2743200"/>
          </a:xfrm>
          <a:prstGeom prst="roundRect">
            <a:avLst>
              <a:gd name="adj" fmla="val 4211"/>
            </a:avLst>
          </a:prstGeom>
          <a:solidFill>
            <a:srgbClr val="1B3A5C"/>
          </a:solidFill>
          <a:ln/>
        </p:spPr>
      </p:sp>
      <p:pic>
        <p:nvPicPr>
          <p:cNvPr id="5" name="Image 0" descr="/home/claude/presentation/icons/mobile_FFFFFF.png">    </p:cNvPr>
          <p:cNvPicPr>
            <a:picLocks noChangeAspect="1"/>
          </p:cNvPicPr>
          <p:nvPr/>
        </p:nvPicPr>
        <p:blipFill>
          <a:blip r:embed="rId1"/>
          <a:stretch>
            <a:fillRect/>
          </a:stretch>
        </p:blipFill>
        <p:spPr>
          <a:xfrm>
            <a:off x="9883140" y="1965960"/>
            <a:ext cx="731520" cy="731520"/>
          </a:xfrm>
          <a:prstGeom prst="rect">
            <a:avLst/>
          </a:prstGeom>
        </p:spPr>
      </p:pic>
      <p:sp>
        <p:nvSpPr>
          <p:cNvPr id="6" name="Text 3"/>
          <p:cNvSpPr/>
          <p:nvPr/>
        </p:nvSpPr>
        <p:spPr>
          <a:xfrm>
            <a:off x="9083040" y="2834640"/>
            <a:ext cx="2331720" cy="457200"/>
          </a:xfrm>
          <a:prstGeom prst="rect">
            <a:avLst/>
          </a:prstGeom>
          <a:noFill/>
          <a:ln/>
        </p:spPr>
        <p:txBody>
          <a:bodyPr wrap="square"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Flutter</a:t>
            </a:r>
            <a:endParaRPr lang="en-US" sz="1700" dirty="0"/>
          </a:p>
        </p:txBody>
      </p:sp>
      <p:sp>
        <p:nvSpPr>
          <p:cNvPr id="7" name="Text 4"/>
          <p:cNvSpPr/>
          <p:nvPr/>
        </p:nvSpPr>
        <p:spPr>
          <a:xfrm>
            <a:off x="9128760" y="3337560"/>
            <a:ext cx="2240280" cy="105156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قاعدة برمجية واحدة تعمل بكفاءة على أكثر من منصة</a:t>
            </a:r>
            <a:endParaRPr lang="en-US" sz="1250" dirty="0"/>
          </a:p>
        </p:txBody>
      </p:sp>
      <p:sp>
        <p:nvSpPr>
          <p:cNvPr id="8" name="Shape 5"/>
          <p:cNvSpPr/>
          <p:nvPr/>
        </p:nvSpPr>
        <p:spPr>
          <a:xfrm>
            <a:off x="6111240" y="1737360"/>
            <a:ext cx="2606040" cy="2743200"/>
          </a:xfrm>
          <a:prstGeom prst="roundRect">
            <a:avLst>
              <a:gd name="adj" fmla="val 4211"/>
            </a:avLst>
          </a:prstGeom>
          <a:solidFill>
            <a:srgbClr val="1B3A5C"/>
          </a:solidFill>
          <a:ln/>
        </p:spPr>
      </p:sp>
      <p:pic>
        <p:nvPicPr>
          <p:cNvPr id="9" name="Image 1" descr="/home/claude/presentation/icons/database_FFFFFF.png">    </p:cNvPr>
          <p:cNvPicPr>
            <a:picLocks noChangeAspect="1"/>
          </p:cNvPicPr>
          <p:nvPr/>
        </p:nvPicPr>
        <p:blipFill>
          <a:blip r:embed="rId2"/>
          <a:stretch>
            <a:fillRect/>
          </a:stretch>
        </p:blipFill>
        <p:spPr>
          <a:xfrm>
            <a:off x="7048500" y="1965960"/>
            <a:ext cx="731520" cy="731520"/>
          </a:xfrm>
          <a:prstGeom prst="rect">
            <a:avLst/>
          </a:prstGeom>
        </p:spPr>
      </p:pic>
      <p:sp>
        <p:nvSpPr>
          <p:cNvPr id="10" name="Text 6"/>
          <p:cNvSpPr/>
          <p:nvPr/>
        </p:nvSpPr>
        <p:spPr>
          <a:xfrm>
            <a:off x="6248400" y="2834640"/>
            <a:ext cx="2331720" cy="457200"/>
          </a:xfrm>
          <a:prstGeom prst="rect">
            <a:avLst/>
          </a:prstGeom>
          <a:noFill/>
          <a:ln/>
        </p:spPr>
        <p:txBody>
          <a:bodyPr wrap="square"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SQLite</a:t>
            </a:r>
            <a:endParaRPr lang="en-US" sz="1700" dirty="0"/>
          </a:p>
        </p:txBody>
      </p:sp>
      <p:sp>
        <p:nvSpPr>
          <p:cNvPr id="11" name="Text 7"/>
          <p:cNvSpPr/>
          <p:nvPr/>
        </p:nvSpPr>
        <p:spPr>
          <a:xfrm>
            <a:off x="6294120" y="3337560"/>
            <a:ext cx="2240280" cy="105156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تخزين محلي يعمل دون الحاجة لخادم دائم الاتصال</a:t>
            </a:r>
            <a:endParaRPr lang="en-US" sz="1250" dirty="0"/>
          </a:p>
        </p:txBody>
      </p:sp>
      <p:sp>
        <p:nvSpPr>
          <p:cNvPr id="12" name="Shape 8"/>
          <p:cNvSpPr/>
          <p:nvPr/>
        </p:nvSpPr>
        <p:spPr>
          <a:xfrm>
            <a:off x="3276600" y="1737360"/>
            <a:ext cx="2606040" cy="2743200"/>
          </a:xfrm>
          <a:prstGeom prst="roundRect">
            <a:avLst>
              <a:gd name="adj" fmla="val 4211"/>
            </a:avLst>
          </a:prstGeom>
          <a:solidFill>
            <a:srgbClr val="1B3A5C"/>
          </a:solidFill>
          <a:ln/>
        </p:spPr>
      </p:sp>
      <p:pic>
        <p:nvPicPr>
          <p:cNvPr id="13" name="Image 2" descr="/home/claude/presentation/icons/cloud_FFFFFF.png">    </p:cNvPr>
          <p:cNvPicPr>
            <a:picLocks noChangeAspect="1"/>
          </p:cNvPicPr>
          <p:nvPr/>
        </p:nvPicPr>
        <p:blipFill>
          <a:blip r:embed="rId3"/>
          <a:stretch>
            <a:fillRect/>
          </a:stretch>
        </p:blipFill>
        <p:spPr>
          <a:xfrm>
            <a:off x="4213860" y="1965960"/>
            <a:ext cx="731520" cy="731520"/>
          </a:xfrm>
          <a:prstGeom prst="rect">
            <a:avLst/>
          </a:prstGeom>
        </p:spPr>
      </p:pic>
      <p:sp>
        <p:nvSpPr>
          <p:cNvPr id="14" name="Text 9"/>
          <p:cNvSpPr/>
          <p:nvPr/>
        </p:nvSpPr>
        <p:spPr>
          <a:xfrm>
            <a:off x="3413760" y="2834640"/>
            <a:ext cx="2331720" cy="457200"/>
          </a:xfrm>
          <a:prstGeom prst="rect">
            <a:avLst/>
          </a:prstGeom>
          <a:noFill/>
          <a:ln/>
        </p:spPr>
        <p:txBody>
          <a:bodyPr wrap="square"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GitHub</a:t>
            </a:r>
            <a:endParaRPr lang="en-US" sz="1700" dirty="0"/>
          </a:p>
        </p:txBody>
      </p:sp>
      <p:sp>
        <p:nvSpPr>
          <p:cNvPr id="15" name="Text 10"/>
          <p:cNvSpPr/>
          <p:nvPr/>
        </p:nvSpPr>
        <p:spPr>
          <a:xfrm>
            <a:off x="3459480" y="3337560"/>
            <a:ext cx="2240280" cy="105156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استضافة بيانات ومزامنة خفيفة التكلفة ومجانية</a:t>
            </a:r>
            <a:endParaRPr lang="en-US" sz="1250" dirty="0"/>
          </a:p>
        </p:txBody>
      </p:sp>
      <p:sp>
        <p:nvSpPr>
          <p:cNvPr id="16" name="Shape 11"/>
          <p:cNvSpPr/>
          <p:nvPr/>
        </p:nvSpPr>
        <p:spPr>
          <a:xfrm>
            <a:off x="441960" y="1737360"/>
            <a:ext cx="2606040" cy="2743200"/>
          </a:xfrm>
          <a:prstGeom prst="roundRect">
            <a:avLst>
              <a:gd name="adj" fmla="val 4211"/>
            </a:avLst>
          </a:prstGeom>
          <a:solidFill>
            <a:srgbClr val="1B3A5C"/>
          </a:solidFill>
          <a:ln/>
        </p:spPr>
      </p:sp>
      <p:pic>
        <p:nvPicPr>
          <p:cNvPr id="17" name="Image 3" descr="/home/claude/presentation/icons/route_FFFFFF.png">    </p:cNvPr>
          <p:cNvPicPr>
            <a:picLocks noChangeAspect="1"/>
          </p:cNvPicPr>
          <p:nvPr/>
        </p:nvPicPr>
        <p:blipFill>
          <a:blip r:embed="rId4"/>
          <a:stretch>
            <a:fillRect/>
          </a:stretch>
        </p:blipFill>
        <p:spPr>
          <a:xfrm>
            <a:off x="1379220" y="1965960"/>
            <a:ext cx="731520" cy="731520"/>
          </a:xfrm>
          <a:prstGeom prst="rect">
            <a:avLst/>
          </a:prstGeom>
        </p:spPr>
      </p:pic>
      <p:sp>
        <p:nvSpPr>
          <p:cNvPr id="18" name="Text 12"/>
          <p:cNvSpPr/>
          <p:nvPr/>
        </p:nvSpPr>
        <p:spPr>
          <a:xfrm>
            <a:off x="579120" y="2834640"/>
            <a:ext cx="2331720" cy="457200"/>
          </a:xfrm>
          <a:prstGeom prst="rect">
            <a:avLst/>
          </a:prstGeom>
          <a:noFill/>
          <a:ln/>
        </p:spPr>
        <p:txBody>
          <a:bodyPr wrap="square" rtlCol="0" anchor="ctr"/>
          <a:lstStyle/>
          <a:p>
            <a:pPr rtl="1" algn="ctr" indent="0" marL="0">
              <a:buNone/>
            </a:pPr>
            <a:r>
              <a:rPr lang="en-US" sz="1700" b="1" dirty="0">
                <a:solidFill>
                  <a:srgbClr val="FFFFFF"/>
                </a:solidFill>
                <a:latin typeface="Arial" pitchFamily="34" charset="0"/>
                <a:ea typeface="Arial" pitchFamily="34" charset="-122"/>
                <a:cs typeface="Arial" pitchFamily="34" charset="-120"/>
              </a:rPr>
              <a:t>خرائط جوجل</a:t>
            </a:r>
            <a:endParaRPr lang="en-US" sz="1700" dirty="0"/>
          </a:p>
        </p:txBody>
      </p:sp>
      <p:sp>
        <p:nvSpPr>
          <p:cNvPr id="19" name="Text 13"/>
          <p:cNvSpPr/>
          <p:nvPr/>
        </p:nvSpPr>
        <p:spPr>
          <a:xfrm>
            <a:off x="624840" y="3337560"/>
            <a:ext cx="2240280" cy="105156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توجيه دقيق دون تضمين محرك خرائط مستقل</a:t>
            </a:r>
            <a:endParaRPr lang="en-US" sz="1250" dirty="0"/>
          </a:p>
        </p:txBody>
      </p:sp>
      <p:sp>
        <p:nvSpPr>
          <p:cNvPr id="20" name="Text 14"/>
          <p:cNvSpPr/>
          <p:nvPr/>
        </p:nvSpPr>
        <p:spPr>
          <a:xfrm>
            <a:off x="670560" y="4800600"/>
            <a:ext cx="10881360" cy="548640"/>
          </a:xfrm>
          <a:prstGeom prst="rect">
            <a:avLst/>
          </a:prstGeom>
          <a:noFill/>
          <a:ln/>
        </p:spPr>
        <p:txBody>
          <a:bodyPr wrap="square" rtlCol="0" anchor="ctr"/>
          <a:lstStyle/>
          <a:p>
            <a:pPr rtl="1" algn="ctr" indent="0" marL="0">
              <a:buNone/>
            </a:pPr>
            <a:r>
              <a:rPr lang="en-US" sz="1400" i="1" dirty="0">
                <a:solidFill>
                  <a:srgbClr val="64748B"/>
                </a:solidFill>
                <a:latin typeface="Arial" pitchFamily="34" charset="0"/>
                <a:ea typeface="Arial" pitchFamily="34" charset="-122"/>
                <a:cs typeface="Arial" pitchFamily="34" charset="-120"/>
              </a:rPr>
              <a:t>هذه التقنيات الحديثة مجتمعة هي ما جعل بناء نظام هجين (محلي + سحابي خفيف) ممكناً بتكلفة شبه معدومة</a:t>
            </a:r>
            <a:endParaRPr lang="en-US" sz="1400" dirty="0"/>
          </a:p>
        </p:txBody>
      </p:sp>
      <p:sp>
        <p:nvSpPr>
          <p:cNvPr id="21" name="Text 15"/>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2" name="Text 16"/>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579120" y="548640"/>
            <a:ext cx="11064240" cy="640080"/>
          </a:xfrm>
          <a:prstGeom prst="rect">
            <a:avLst/>
          </a:prstGeom>
          <a:noFill/>
          <a:ln/>
        </p:spPr>
        <p:txBody>
          <a:bodyPr wrap="square" rtlCol="0" anchor="ctr"/>
          <a:lstStyle/>
          <a:p>
            <a:pPr rtl="1" algn="r" indent="0" marL="0">
              <a:buNone/>
            </a:pPr>
            <a:r>
              <a:rPr lang="en-US" sz="3000" b="1" dirty="0">
                <a:solidFill>
                  <a:srgbClr val="FFFFFF"/>
                </a:solidFill>
                <a:latin typeface="Arial" pitchFamily="34" charset="0"/>
                <a:ea typeface="Arial" pitchFamily="34" charset="-122"/>
                <a:cs typeface="Arial" pitchFamily="34" charset="-120"/>
              </a:rPr>
              <a:t>مشكلة البحث</a:t>
            </a:r>
            <a:endParaRPr lang="en-US" sz="3000" dirty="0"/>
          </a:p>
        </p:txBody>
      </p:sp>
      <p:sp>
        <p:nvSpPr>
          <p:cNvPr id="3" name="Text 1"/>
          <p:cNvSpPr/>
          <p:nvPr/>
        </p:nvSpPr>
        <p:spPr>
          <a:xfrm>
            <a:off x="579120" y="1143000"/>
            <a:ext cx="11064240" cy="365760"/>
          </a:xfrm>
          <a:prstGeom prst="rect">
            <a:avLst/>
          </a:prstGeom>
          <a:noFill/>
          <a:ln/>
        </p:spPr>
        <p:txBody>
          <a:bodyPr wrap="square" rtlCol="0" anchor="ctr"/>
          <a:lstStyle/>
          <a:p>
            <a:pPr rtl="1" algn="r" indent="0" marL="0">
              <a:buNone/>
            </a:pPr>
            <a:r>
              <a:rPr lang="en-US" sz="1400" i="1" dirty="0">
                <a:solidFill>
                  <a:srgbClr val="9FB3C8"/>
                </a:solidFill>
                <a:latin typeface="Arial" pitchFamily="34" charset="0"/>
                <a:ea typeface="Arial" pitchFamily="34" charset="-122"/>
                <a:cs typeface="Arial" pitchFamily="34" charset="-120"/>
              </a:rPr>
              <a:t>Research Problem</a:t>
            </a:r>
            <a:endParaRPr lang="en-US" sz="1400" dirty="0"/>
          </a:p>
        </p:txBody>
      </p:sp>
      <p:sp>
        <p:nvSpPr>
          <p:cNvPr id="4" name="Shape 2"/>
          <p:cNvSpPr/>
          <p:nvPr/>
        </p:nvSpPr>
        <p:spPr>
          <a:xfrm>
            <a:off x="917448" y="2103120"/>
            <a:ext cx="10360152" cy="2926080"/>
          </a:xfrm>
          <a:prstGeom prst="roundRect">
            <a:avLst>
              <a:gd name="adj" fmla="val 3750"/>
            </a:avLst>
          </a:prstGeom>
          <a:solidFill>
            <a:srgbClr val="FFFFFF"/>
          </a:solidFill>
          <a:ln/>
        </p:spPr>
      </p:sp>
      <p:pic>
        <p:nvPicPr>
          <p:cNvPr id="5" name="Image 0" descr="/home/claude/presentation/icons/warning_1B3A5C.png">    </p:cNvPr>
          <p:cNvPicPr>
            <a:picLocks noChangeAspect="1"/>
          </p:cNvPicPr>
          <p:nvPr/>
        </p:nvPicPr>
        <p:blipFill>
          <a:blip r:embed="rId1"/>
          <a:stretch>
            <a:fillRect/>
          </a:stretch>
        </p:blipFill>
        <p:spPr>
          <a:xfrm>
            <a:off x="6284976" y="2377440"/>
            <a:ext cx="548640" cy="548640"/>
          </a:xfrm>
          <a:prstGeom prst="rect">
            <a:avLst/>
          </a:prstGeom>
        </p:spPr>
      </p:pic>
      <p:sp>
        <p:nvSpPr>
          <p:cNvPr id="6" name="Text 3"/>
          <p:cNvSpPr/>
          <p:nvPr/>
        </p:nvSpPr>
        <p:spPr>
          <a:xfrm>
            <a:off x="1466088" y="3063240"/>
            <a:ext cx="9262872" cy="1737360"/>
          </a:xfrm>
          <a:prstGeom prst="rect">
            <a:avLst/>
          </a:prstGeom>
          <a:noFill/>
          <a:ln/>
        </p:spPr>
        <p:txBody>
          <a:bodyPr wrap="square" rtlCol="0" anchor="ctr"/>
          <a:lstStyle/>
          <a:p>
            <a:pPr rtl="1" algn="ctr" indent="0" marL="0">
              <a:buNone/>
            </a:pPr>
            <a:r>
              <a:rPr lang="en-US" sz="1900" b="1" dirty="0">
                <a:solidFill>
                  <a:srgbClr val="1D2939"/>
                </a:solidFill>
                <a:latin typeface="Arial" pitchFamily="34" charset="0"/>
                <a:ea typeface="Arial" pitchFamily="34" charset="-122"/>
                <a:cs typeface="Arial" pitchFamily="34" charset="-120"/>
              </a:rPr>
              <a:t>غياب مرجع رقمي موحد وموثوق يتيح لسكان دنقلا وزوارها الوصول السريع لبيانات المرافق الصحية: موقعها، خدماتها، ساعات عملها، وأرقام التواصل الخاصة بها</a:t>
            </a:r>
            <a:endParaRPr lang="en-US" sz="1900" dirty="0"/>
          </a:p>
        </p:txBody>
      </p:sp>
      <p:sp>
        <p:nvSpPr>
          <p:cNvPr id="7" name="Text 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8" name="Text 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أبعاد المشكلة</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Problem Dimensions</a:t>
            </a:r>
            <a:endParaRPr lang="en-US" sz="1400" dirty="0"/>
          </a:p>
        </p:txBody>
      </p:sp>
      <p:sp>
        <p:nvSpPr>
          <p:cNvPr id="4" name="Shape 2"/>
          <p:cNvSpPr/>
          <p:nvPr/>
        </p:nvSpPr>
        <p:spPr>
          <a:xfrm>
            <a:off x="6156960" y="1691640"/>
            <a:ext cx="5394960" cy="1600200"/>
          </a:xfrm>
          <a:prstGeom prst="roundRect">
            <a:avLst>
              <a:gd name="adj" fmla="val 5714"/>
            </a:avLst>
          </a:prstGeom>
          <a:solidFill>
            <a:srgbClr val="F4F5F7"/>
          </a:solidFill>
          <a:ln w="12700">
            <a:solidFill>
              <a:srgbClr val="E7ECF2"/>
            </a:solidFill>
            <a:prstDash val="solid"/>
          </a:ln>
        </p:spPr>
      </p:sp>
      <p:sp>
        <p:nvSpPr>
          <p:cNvPr id="5" name="Shape 3"/>
          <p:cNvSpPr/>
          <p:nvPr/>
        </p:nvSpPr>
        <p:spPr>
          <a:xfrm>
            <a:off x="10454640" y="1965960"/>
            <a:ext cx="822960" cy="822960"/>
          </a:xfrm>
          <a:prstGeom prst="oval">
            <a:avLst/>
          </a:prstGeom>
          <a:solidFill>
            <a:srgbClr val="1B3A5C"/>
          </a:solidFill>
          <a:ln/>
        </p:spPr>
      </p:sp>
      <p:pic>
        <p:nvPicPr>
          <p:cNvPr id="6" name="Image 0" descr="/home/claude/presentation/icons/search_FFFFFF.png">    </p:cNvPr>
          <p:cNvPicPr>
            <a:picLocks noChangeAspect="1"/>
          </p:cNvPicPr>
          <p:nvPr/>
        </p:nvPicPr>
        <p:blipFill>
          <a:blip r:embed="rId1"/>
          <a:stretch>
            <a:fillRect/>
          </a:stretch>
        </p:blipFill>
        <p:spPr>
          <a:xfrm>
            <a:off x="10610088" y="2130552"/>
            <a:ext cx="502920" cy="502920"/>
          </a:xfrm>
          <a:prstGeom prst="rect">
            <a:avLst/>
          </a:prstGeom>
        </p:spPr>
      </p:pic>
      <p:sp>
        <p:nvSpPr>
          <p:cNvPr id="7" name="Text 4"/>
          <p:cNvSpPr/>
          <p:nvPr/>
        </p:nvSpPr>
        <p:spPr>
          <a:xfrm>
            <a:off x="6339840" y="1874520"/>
            <a:ext cx="3931920" cy="457200"/>
          </a:xfrm>
          <a:prstGeom prst="rect">
            <a:avLst/>
          </a:prstGeom>
          <a:noFill/>
          <a:ln/>
        </p:spPr>
        <p:txBody>
          <a:bodyPr wrap="square" rtlCol="0" anchor="ctr"/>
          <a:lstStyle/>
          <a:p>
            <a:pPr rtl="1" algn="l" indent="0" marL="0">
              <a:buNone/>
            </a:pPr>
            <a:r>
              <a:rPr lang="en-US" sz="1550" b="1" dirty="0">
                <a:solidFill>
                  <a:srgbClr val="1B3A5C"/>
                </a:solidFill>
                <a:latin typeface="Arial" pitchFamily="34" charset="0"/>
                <a:ea typeface="Arial" pitchFamily="34" charset="-122"/>
                <a:cs typeface="Arial" pitchFamily="34" charset="-120"/>
              </a:rPr>
              <a:t>تشتت المعلومات</a:t>
            </a:r>
            <a:endParaRPr lang="en-US" sz="1550" dirty="0"/>
          </a:p>
        </p:txBody>
      </p:sp>
      <p:sp>
        <p:nvSpPr>
          <p:cNvPr id="8" name="Text 5"/>
          <p:cNvSpPr/>
          <p:nvPr/>
        </p:nvSpPr>
        <p:spPr>
          <a:xfrm>
            <a:off x="6339840" y="2377440"/>
            <a:ext cx="3931920" cy="822960"/>
          </a:xfrm>
          <a:prstGeom prst="rect">
            <a:avLst/>
          </a:prstGeom>
          <a:noFill/>
          <a:ln/>
        </p:spPr>
        <p:txBody>
          <a:bodyPr wrap="square" rtlCol="0" anchor="ctr"/>
          <a:lstStyle/>
          <a:p>
            <a:pPr rtl="1" algn="l" indent="0" marL="0">
              <a:buNone/>
            </a:pPr>
            <a:r>
              <a:rPr lang="en-US" sz="1250" dirty="0">
                <a:solidFill>
                  <a:srgbClr val="64748B"/>
                </a:solidFill>
                <a:latin typeface="Arial" pitchFamily="34" charset="0"/>
                <a:ea typeface="Arial" pitchFamily="34" charset="-122"/>
                <a:cs typeface="Arial" pitchFamily="34" charset="-120"/>
              </a:rPr>
              <a:t>لا يوجد دليل رقمي مركزي يجمع بيانات المرافق الصحية</a:t>
            </a:r>
            <a:endParaRPr lang="en-US" sz="1250" dirty="0"/>
          </a:p>
        </p:txBody>
      </p:sp>
      <p:sp>
        <p:nvSpPr>
          <p:cNvPr id="9" name="Shape 6"/>
          <p:cNvSpPr/>
          <p:nvPr/>
        </p:nvSpPr>
        <p:spPr>
          <a:xfrm>
            <a:off x="304800" y="1691640"/>
            <a:ext cx="5394960" cy="1600200"/>
          </a:xfrm>
          <a:prstGeom prst="roundRect">
            <a:avLst>
              <a:gd name="adj" fmla="val 5714"/>
            </a:avLst>
          </a:prstGeom>
          <a:solidFill>
            <a:srgbClr val="F4F5F7"/>
          </a:solidFill>
          <a:ln w="12700">
            <a:solidFill>
              <a:srgbClr val="E7ECF2"/>
            </a:solidFill>
            <a:prstDash val="solid"/>
          </a:ln>
        </p:spPr>
      </p:sp>
      <p:sp>
        <p:nvSpPr>
          <p:cNvPr id="10" name="Shape 7"/>
          <p:cNvSpPr/>
          <p:nvPr/>
        </p:nvSpPr>
        <p:spPr>
          <a:xfrm>
            <a:off x="4602480" y="1965960"/>
            <a:ext cx="822960" cy="822960"/>
          </a:xfrm>
          <a:prstGeom prst="oval">
            <a:avLst/>
          </a:prstGeom>
          <a:solidFill>
            <a:srgbClr val="1B3A5C"/>
          </a:solidFill>
          <a:ln/>
        </p:spPr>
      </p:sp>
      <p:pic>
        <p:nvPicPr>
          <p:cNvPr id="11" name="Image 1" descr="/home/claude/presentation/icons/marker_FFFFFF.png">    </p:cNvPr>
          <p:cNvPicPr>
            <a:picLocks noChangeAspect="1"/>
          </p:cNvPicPr>
          <p:nvPr/>
        </p:nvPicPr>
        <p:blipFill>
          <a:blip r:embed="rId2"/>
          <a:stretch>
            <a:fillRect/>
          </a:stretch>
        </p:blipFill>
        <p:spPr>
          <a:xfrm>
            <a:off x="4757928" y="2130552"/>
            <a:ext cx="502920" cy="502920"/>
          </a:xfrm>
          <a:prstGeom prst="rect">
            <a:avLst/>
          </a:prstGeom>
        </p:spPr>
      </p:pic>
      <p:sp>
        <p:nvSpPr>
          <p:cNvPr id="12" name="Text 8"/>
          <p:cNvSpPr/>
          <p:nvPr/>
        </p:nvSpPr>
        <p:spPr>
          <a:xfrm>
            <a:off x="487680" y="1874520"/>
            <a:ext cx="3931920" cy="457200"/>
          </a:xfrm>
          <a:prstGeom prst="rect">
            <a:avLst/>
          </a:prstGeom>
          <a:noFill/>
          <a:ln/>
        </p:spPr>
        <p:txBody>
          <a:bodyPr wrap="square" rtlCol="0" anchor="ctr"/>
          <a:lstStyle/>
          <a:p>
            <a:pPr rtl="1" algn="l" indent="0" marL="0">
              <a:buNone/>
            </a:pPr>
            <a:r>
              <a:rPr lang="en-US" sz="1550" b="1" dirty="0">
                <a:solidFill>
                  <a:srgbClr val="1B3A5C"/>
                </a:solidFill>
                <a:latin typeface="Arial" pitchFamily="34" charset="0"/>
                <a:ea typeface="Arial" pitchFamily="34" charset="-122"/>
                <a:cs typeface="Arial" pitchFamily="34" charset="-120"/>
              </a:rPr>
              <a:t>صعوبة تحديد المواقع</a:t>
            </a:r>
            <a:endParaRPr lang="en-US" sz="1550" dirty="0"/>
          </a:p>
        </p:txBody>
      </p:sp>
      <p:sp>
        <p:nvSpPr>
          <p:cNvPr id="13" name="Text 9"/>
          <p:cNvSpPr/>
          <p:nvPr/>
        </p:nvSpPr>
        <p:spPr>
          <a:xfrm>
            <a:off x="487680" y="2377440"/>
            <a:ext cx="3931920" cy="822960"/>
          </a:xfrm>
          <a:prstGeom prst="rect">
            <a:avLst/>
          </a:prstGeom>
          <a:noFill/>
          <a:ln/>
        </p:spPr>
        <p:txBody>
          <a:bodyPr wrap="square" rtlCol="0" anchor="ctr"/>
          <a:lstStyle/>
          <a:p>
            <a:pPr rtl="1" algn="l" indent="0" marL="0">
              <a:buNone/>
            </a:pPr>
            <a:r>
              <a:rPr lang="en-US" sz="1250" dirty="0">
                <a:solidFill>
                  <a:srgbClr val="64748B"/>
                </a:solidFill>
                <a:latin typeface="Arial" pitchFamily="34" charset="0"/>
                <a:ea typeface="Arial" pitchFamily="34" charset="-122"/>
                <a:cs typeface="Arial" pitchFamily="34" charset="-120"/>
              </a:rPr>
              <a:t>اعتماد على وصف المعالم بدل عناوين رسمية دقيقة</a:t>
            </a:r>
            <a:endParaRPr lang="en-US" sz="1250" dirty="0"/>
          </a:p>
        </p:txBody>
      </p:sp>
      <p:sp>
        <p:nvSpPr>
          <p:cNvPr id="14" name="Shape 10"/>
          <p:cNvSpPr/>
          <p:nvPr/>
        </p:nvSpPr>
        <p:spPr>
          <a:xfrm>
            <a:off x="6156960" y="3611880"/>
            <a:ext cx="5394960" cy="1600200"/>
          </a:xfrm>
          <a:prstGeom prst="roundRect">
            <a:avLst>
              <a:gd name="adj" fmla="val 5714"/>
            </a:avLst>
          </a:prstGeom>
          <a:solidFill>
            <a:srgbClr val="F4F5F7"/>
          </a:solidFill>
          <a:ln w="12700">
            <a:solidFill>
              <a:srgbClr val="E7ECF2"/>
            </a:solidFill>
            <a:prstDash val="solid"/>
          </a:ln>
        </p:spPr>
      </p:sp>
      <p:sp>
        <p:nvSpPr>
          <p:cNvPr id="15" name="Shape 11"/>
          <p:cNvSpPr/>
          <p:nvPr/>
        </p:nvSpPr>
        <p:spPr>
          <a:xfrm>
            <a:off x="10454640" y="3886200"/>
            <a:ext cx="822960" cy="822960"/>
          </a:xfrm>
          <a:prstGeom prst="oval">
            <a:avLst/>
          </a:prstGeom>
          <a:solidFill>
            <a:srgbClr val="1B3A5C"/>
          </a:solidFill>
          <a:ln/>
        </p:spPr>
      </p:sp>
      <p:pic>
        <p:nvPicPr>
          <p:cNvPr id="16" name="Image 2" descr="/home/claude/presentation/icons/clipboard_FFFFFF.png">    </p:cNvPr>
          <p:cNvPicPr>
            <a:picLocks noChangeAspect="1"/>
          </p:cNvPicPr>
          <p:nvPr/>
        </p:nvPicPr>
        <p:blipFill>
          <a:blip r:embed="rId3"/>
          <a:stretch>
            <a:fillRect/>
          </a:stretch>
        </p:blipFill>
        <p:spPr>
          <a:xfrm>
            <a:off x="10610088" y="4050792"/>
            <a:ext cx="502920" cy="502920"/>
          </a:xfrm>
          <a:prstGeom prst="rect">
            <a:avLst/>
          </a:prstGeom>
        </p:spPr>
      </p:pic>
      <p:sp>
        <p:nvSpPr>
          <p:cNvPr id="17" name="Text 12"/>
          <p:cNvSpPr/>
          <p:nvPr/>
        </p:nvSpPr>
        <p:spPr>
          <a:xfrm>
            <a:off x="6339840" y="3794760"/>
            <a:ext cx="3931920" cy="457200"/>
          </a:xfrm>
          <a:prstGeom prst="rect">
            <a:avLst/>
          </a:prstGeom>
          <a:noFill/>
          <a:ln/>
        </p:spPr>
        <p:txBody>
          <a:bodyPr wrap="square" rtlCol="0" anchor="ctr"/>
          <a:lstStyle/>
          <a:p>
            <a:pPr rtl="1" algn="l" indent="0" marL="0">
              <a:buNone/>
            </a:pPr>
            <a:r>
              <a:rPr lang="en-US" sz="1550" b="1" dirty="0">
                <a:solidFill>
                  <a:srgbClr val="1B3A5C"/>
                </a:solidFill>
                <a:latin typeface="Arial" pitchFamily="34" charset="0"/>
                <a:ea typeface="Arial" pitchFamily="34" charset="-122"/>
                <a:cs typeface="Arial" pitchFamily="34" charset="-120"/>
              </a:rPr>
              <a:t>نقص المعلومات التشغيلية</a:t>
            </a:r>
            <a:endParaRPr lang="en-US" sz="1550" dirty="0"/>
          </a:p>
        </p:txBody>
      </p:sp>
      <p:sp>
        <p:nvSpPr>
          <p:cNvPr id="18" name="Text 13"/>
          <p:cNvSpPr/>
          <p:nvPr/>
        </p:nvSpPr>
        <p:spPr>
          <a:xfrm>
            <a:off x="6339840" y="4297680"/>
            <a:ext cx="3931920" cy="822960"/>
          </a:xfrm>
          <a:prstGeom prst="rect">
            <a:avLst/>
          </a:prstGeom>
          <a:noFill/>
          <a:ln/>
        </p:spPr>
        <p:txBody>
          <a:bodyPr wrap="square" rtlCol="0" anchor="ctr"/>
          <a:lstStyle/>
          <a:p>
            <a:pPr rtl="1" algn="l" indent="0" marL="0">
              <a:buNone/>
            </a:pPr>
            <a:r>
              <a:rPr lang="en-US" sz="1250" dirty="0">
                <a:solidFill>
                  <a:srgbClr val="64748B"/>
                </a:solidFill>
                <a:latin typeface="Arial" pitchFamily="34" charset="0"/>
                <a:ea typeface="Arial" pitchFamily="34" charset="-122"/>
                <a:cs typeface="Arial" pitchFamily="34" charset="-120"/>
              </a:rPr>
              <a:t>غياب ساعات العمل الفعلية وأرقام التواصل المباشر</a:t>
            </a:r>
            <a:endParaRPr lang="en-US" sz="1250" dirty="0"/>
          </a:p>
        </p:txBody>
      </p:sp>
      <p:sp>
        <p:nvSpPr>
          <p:cNvPr id="19" name="Shape 14"/>
          <p:cNvSpPr/>
          <p:nvPr/>
        </p:nvSpPr>
        <p:spPr>
          <a:xfrm>
            <a:off x="304800" y="3611880"/>
            <a:ext cx="5394960" cy="1600200"/>
          </a:xfrm>
          <a:prstGeom prst="roundRect">
            <a:avLst>
              <a:gd name="adj" fmla="val 5714"/>
            </a:avLst>
          </a:prstGeom>
          <a:solidFill>
            <a:srgbClr val="F4F5F7"/>
          </a:solidFill>
          <a:ln w="12700">
            <a:solidFill>
              <a:srgbClr val="E7ECF2"/>
            </a:solidFill>
            <a:prstDash val="solid"/>
          </a:ln>
        </p:spPr>
      </p:sp>
      <p:sp>
        <p:nvSpPr>
          <p:cNvPr id="20" name="Shape 15"/>
          <p:cNvSpPr/>
          <p:nvPr/>
        </p:nvSpPr>
        <p:spPr>
          <a:xfrm>
            <a:off x="4602480" y="3886200"/>
            <a:ext cx="822960" cy="822960"/>
          </a:xfrm>
          <a:prstGeom prst="oval">
            <a:avLst/>
          </a:prstGeom>
          <a:solidFill>
            <a:srgbClr val="1B3A5C"/>
          </a:solidFill>
          <a:ln/>
        </p:spPr>
      </p:sp>
      <p:pic>
        <p:nvPicPr>
          <p:cNvPr id="21" name="Image 3" descr="/home/claude/presentation/icons/sync_FFFFFF.png">    </p:cNvPr>
          <p:cNvPicPr>
            <a:picLocks noChangeAspect="1"/>
          </p:cNvPicPr>
          <p:nvPr/>
        </p:nvPicPr>
        <p:blipFill>
          <a:blip r:embed="rId4"/>
          <a:stretch>
            <a:fillRect/>
          </a:stretch>
        </p:blipFill>
        <p:spPr>
          <a:xfrm>
            <a:off x="4757928" y="4050792"/>
            <a:ext cx="502920" cy="502920"/>
          </a:xfrm>
          <a:prstGeom prst="rect">
            <a:avLst/>
          </a:prstGeom>
        </p:spPr>
      </p:pic>
      <p:sp>
        <p:nvSpPr>
          <p:cNvPr id="22" name="Text 16"/>
          <p:cNvSpPr/>
          <p:nvPr/>
        </p:nvSpPr>
        <p:spPr>
          <a:xfrm>
            <a:off x="487680" y="3794760"/>
            <a:ext cx="3931920" cy="457200"/>
          </a:xfrm>
          <a:prstGeom prst="rect">
            <a:avLst/>
          </a:prstGeom>
          <a:noFill/>
          <a:ln/>
        </p:spPr>
        <p:txBody>
          <a:bodyPr wrap="square" rtlCol="0" anchor="ctr"/>
          <a:lstStyle/>
          <a:p>
            <a:pPr rtl="1" algn="l" indent="0" marL="0">
              <a:buNone/>
            </a:pPr>
            <a:r>
              <a:rPr lang="en-US" sz="1550" b="1" dirty="0">
                <a:solidFill>
                  <a:srgbClr val="1B3A5C"/>
                </a:solidFill>
                <a:latin typeface="Arial" pitchFamily="34" charset="0"/>
                <a:ea typeface="Arial" pitchFamily="34" charset="-122"/>
                <a:cs typeface="Arial" pitchFamily="34" charset="-120"/>
              </a:rPr>
              <a:t>عدم التحديث المستمر</a:t>
            </a:r>
            <a:endParaRPr lang="en-US" sz="1550" dirty="0"/>
          </a:p>
        </p:txBody>
      </p:sp>
      <p:sp>
        <p:nvSpPr>
          <p:cNvPr id="23" name="Text 17"/>
          <p:cNvSpPr/>
          <p:nvPr/>
        </p:nvSpPr>
        <p:spPr>
          <a:xfrm>
            <a:off x="487680" y="4297680"/>
            <a:ext cx="3931920" cy="822960"/>
          </a:xfrm>
          <a:prstGeom prst="rect">
            <a:avLst/>
          </a:prstGeom>
          <a:noFill/>
          <a:ln/>
        </p:spPr>
        <p:txBody>
          <a:bodyPr wrap="square" rtlCol="0" anchor="ctr"/>
          <a:lstStyle/>
          <a:p>
            <a:pPr rtl="1" algn="l" indent="0" marL="0">
              <a:buNone/>
            </a:pPr>
            <a:r>
              <a:rPr lang="en-US" sz="1250" dirty="0">
                <a:solidFill>
                  <a:srgbClr val="64748B"/>
                </a:solidFill>
                <a:latin typeface="Arial" pitchFamily="34" charset="0"/>
                <a:ea typeface="Arial" pitchFamily="34" charset="-122"/>
                <a:cs typeface="Arial" pitchFamily="34" charset="-120"/>
              </a:rPr>
              <a:t>صعوبة إبقاء أي مصدر مطبوع أو ثابت محدَّثاً باستمرار</a:t>
            </a:r>
            <a:endParaRPr lang="en-US" sz="1250" dirty="0"/>
          </a:p>
        </p:txBody>
      </p:sp>
      <p:sp>
        <p:nvSpPr>
          <p:cNvPr id="24" name="Text 18"/>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5" name="Text 19"/>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أسئلة البحث</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Research Questions</a:t>
            </a:r>
            <a:endParaRPr lang="en-US" sz="1400" dirty="0"/>
          </a:p>
        </p:txBody>
      </p:sp>
      <p:sp>
        <p:nvSpPr>
          <p:cNvPr id="4" name="Shape 2"/>
          <p:cNvSpPr/>
          <p:nvPr/>
        </p:nvSpPr>
        <p:spPr>
          <a:xfrm>
            <a:off x="11049000" y="1691640"/>
            <a:ext cx="502920" cy="502920"/>
          </a:xfrm>
          <a:prstGeom prst="roundRect">
            <a:avLst>
              <a:gd name="adj" fmla="val 14545"/>
            </a:avLst>
          </a:prstGeom>
          <a:solidFill>
            <a:srgbClr val="1B3A5C"/>
          </a:solidFill>
          <a:ln/>
        </p:spPr>
      </p:sp>
      <p:sp>
        <p:nvSpPr>
          <p:cNvPr id="5" name="Text 3"/>
          <p:cNvSpPr/>
          <p:nvPr/>
        </p:nvSpPr>
        <p:spPr>
          <a:xfrm>
            <a:off x="11049000" y="1691640"/>
            <a:ext cx="502920" cy="50292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899160" y="1645920"/>
            <a:ext cx="9966960" cy="594360"/>
          </a:xfrm>
          <a:prstGeom prst="rect">
            <a:avLst/>
          </a:prstGeom>
          <a:noFill/>
          <a:ln/>
        </p:spPr>
        <p:txBody>
          <a:bodyPr wrap="square" rtlCol="0" anchor="ctr"/>
          <a:lstStyle/>
          <a:p>
            <a:pPr rtl="1" algn="r" indent="0" marL="0">
              <a:buNone/>
            </a:pPr>
            <a:r>
              <a:rPr lang="en-US" sz="1550" dirty="0">
                <a:solidFill>
                  <a:srgbClr val="1D2939"/>
                </a:solidFill>
                <a:latin typeface="Arial" pitchFamily="34" charset="0"/>
                <a:ea typeface="Arial" pitchFamily="34" charset="-122"/>
                <a:cs typeface="Arial" pitchFamily="34" charset="-120"/>
              </a:rPr>
              <a:t>كيف يمكن تصميم تطبيق يعمل بكفاءة دون اتصال بالإنترنت؟</a:t>
            </a:r>
            <a:endParaRPr lang="en-US" sz="1550" dirty="0"/>
          </a:p>
        </p:txBody>
      </p:sp>
      <p:sp>
        <p:nvSpPr>
          <p:cNvPr id="7" name="Shape 5"/>
          <p:cNvSpPr/>
          <p:nvPr/>
        </p:nvSpPr>
        <p:spPr>
          <a:xfrm>
            <a:off x="11049000" y="2468880"/>
            <a:ext cx="502920" cy="502920"/>
          </a:xfrm>
          <a:prstGeom prst="roundRect">
            <a:avLst>
              <a:gd name="adj" fmla="val 14545"/>
            </a:avLst>
          </a:prstGeom>
          <a:solidFill>
            <a:srgbClr val="1B3A5C"/>
          </a:solidFill>
          <a:ln/>
        </p:spPr>
      </p:sp>
      <p:sp>
        <p:nvSpPr>
          <p:cNvPr id="8" name="Text 6"/>
          <p:cNvSpPr/>
          <p:nvPr/>
        </p:nvSpPr>
        <p:spPr>
          <a:xfrm>
            <a:off x="11049000" y="2468880"/>
            <a:ext cx="502920" cy="50292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9" name="Text 7"/>
          <p:cNvSpPr/>
          <p:nvPr/>
        </p:nvSpPr>
        <p:spPr>
          <a:xfrm>
            <a:off x="899160" y="2423160"/>
            <a:ext cx="9966960" cy="594360"/>
          </a:xfrm>
          <a:prstGeom prst="rect">
            <a:avLst/>
          </a:prstGeom>
          <a:noFill/>
          <a:ln/>
        </p:spPr>
        <p:txBody>
          <a:bodyPr wrap="square" rtlCol="0" anchor="ctr"/>
          <a:lstStyle/>
          <a:p>
            <a:pPr rtl="1" algn="r" indent="0" marL="0">
              <a:buNone/>
            </a:pPr>
            <a:r>
              <a:rPr lang="en-US" sz="1550" dirty="0">
                <a:solidFill>
                  <a:srgbClr val="1D2939"/>
                </a:solidFill>
                <a:latin typeface="Arial" pitchFamily="34" charset="0"/>
                <a:ea typeface="Arial" pitchFamily="34" charset="-122"/>
                <a:cs typeface="Arial" pitchFamily="34" charset="-120"/>
              </a:rPr>
              <a:t>ما البنية المناسبة لقاعدة بيانات SQLite لتخزين بيانات المرافق؟</a:t>
            </a:r>
            <a:endParaRPr lang="en-US" sz="1550" dirty="0"/>
          </a:p>
        </p:txBody>
      </p:sp>
      <p:sp>
        <p:nvSpPr>
          <p:cNvPr id="10" name="Shape 8"/>
          <p:cNvSpPr/>
          <p:nvPr/>
        </p:nvSpPr>
        <p:spPr>
          <a:xfrm>
            <a:off x="11049000" y="3246120"/>
            <a:ext cx="502920" cy="502920"/>
          </a:xfrm>
          <a:prstGeom prst="roundRect">
            <a:avLst>
              <a:gd name="adj" fmla="val 14545"/>
            </a:avLst>
          </a:prstGeom>
          <a:solidFill>
            <a:srgbClr val="1B3A5C"/>
          </a:solidFill>
          <a:ln/>
        </p:spPr>
      </p:sp>
      <p:sp>
        <p:nvSpPr>
          <p:cNvPr id="11" name="Text 9"/>
          <p:cNvSpPr/>
          <p:nvPr/>
        </p:nvSpPr>
        <p:spPr>
          <a:xfrm>
            <a:off x="11049000" y="3246120"/>
            <a:ext cx="502920" cy="50292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2" name="Text 10"/>
          <p:cNvSpPr/>
          <p:nvPr/>
        </p:nvSpPr>
        <p:spPr>
          <a:xfrm>
            <a:off x="899160" y="3200400"/>
            <a:ext cx="9966960" cy="594360"/>
          </a:xfrm>
          <a:prstGeom prst="rect">
            <a:avLst/>
          </a:prstGeom>
          <a:noFill/>
          <a:ln/>
        </p:spPr>
        <p:txBody>
          <a:bodyPr wrap="square" rtlCol="0" anchor="ctr"/>
          <a:lstStyle/>
          <a:p>
            <a:pPr rtl="1" algn="r" indent="0" marL="0">
              <a:buNone/>
            </a:pPr>
            <a:r>
              <a:rPr lang="en-US" sz="1550" dirty="0">
                <a:solidFill>
                  <a:srgbClr val="1D2939"/>
                </a:solidFill>
                <a:latin typeface="Arial" pitchFamily="34" charset="0"/>
                <a:ea typeface="Arial" pitchFamily="34" charset="-122"/>
                <a:cs typeface="Arial" pitchFamily="34" charset="-120"/>
              </a:rPr>
              <a:t>كيف يمكن تمكين المستخدم من الوصول لموقع أي منشأة عبر خرائط جوجل؟</a:t>
            </a:r>
            <a:endParaRPr lang="en-US" sz="1550" dirty="0"/>
          </a:p>
        </p:txBody>
      </p:sp>
      <p:sp>
        <p:nvSpPr>
          <p:cNvPr id="13" name="Shape 11"/>
          <p:cNvSpPr/>
          <p:nvPr/>
        </p:nvSpPr>
        <p:spPr>
          <a:xfrm>
            <a:off x="11049000" y="4023360"/>
            <a:ext cx="502920" cy="502920"/>
          </a:xfrm>
          <a:prstGeom prst="roundRect">
            <a:avLst>
              <a:gd name="adj" fmla="val 14545"/>
            </a:avLst>
          </a:prstGeom>
          <a:solidFill>
            <a:srgbClr val="1B3A5C"/>
          </a:solidFill>
          <a:ln/>
        </p:spPr>
      </p:sp>
      <p:sp>
        <p:nvSpPr>
          <p:cNvPr id="14" name="Text 12"/>
          <p:cNvSpPr/>
          <p:nvPr/>
        </p:nvSpPr>
        <p:spPr>
          <a:xfrm>
            <a:off x="11049000" y="4023360"/>
            <a:ext cx="502920" cy="50292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5" name="Text 13"/>
          <p:cNvSpPr/>
          <p:nvPr/>
        </p:nvSpPr>
        <p:spPr>
          <a:xfrm>
            <a:off x="899160" y="3977640"/>
            <a:ext cx="9966960" cy="594360"/>
          </a:xfrm>
          <a:prstGeom prst="rect">
            <a:avLst/>
          </a:prstGeom>
          <a:noFill/>
          <a:ln/>
        </p:spPr>
        <p:txBody>
          <a:bodyPr wrap="square" rtlCol="0" anchor="ctr"/>
          <a:lstStyle/>
          <a:p>
            <a:pPr rtl="1" algn="r" indent="0" marL="0">
              <a:buNone/>
            </a:pPr>
            <a:r>
              <a:rPr lang="en-US" sz="1550" dirty="0">
                <a:solidFill>
                  <a:srgbClr val="1D2939"/>
                </a:solidFill>
                <a:latin typeface="Arial" pitchFamily="34" charset="0"/>
                <a:ea typeface="Arial" pitchFamily="34" charset="-122"/>
                <a:cs typeface="Arial" pitchFamily="34" charset="-120"/>
              </a:rPr>
              <a:t>ما الآلية المناسبة لتحديث البيانات تلقائياً لجميع المستخدمين؟</a:t>
            </a:r>
            <a:endParaRPr lang="en-US" sz="1550" dirty="0"/>
          </a:p>
        </p:txBody>
      </p:sp>
      <p:sp>
        <p:nvSpPr>
          <p:cNvPr id="16" name="Shape 14"/>
          <p:cNvSpPr/>
          <p:nvPr/>
        </p:nvSpPr>
        <p:spPr>
          <a:xfrm>
            <a:off x="11049000" y="4800600"/>
            <a:ext cx="502920" cy="502920"/>
          </a:xfrm>
          <a:prstGeom prst="roundRect">
            <a:avLst>
              <a:gd name="adj" fmla="val 14545"/>
            </a:avLst>
          </a:prstGeom>
          <a:solidFill>
            <a:srgbClr val="1B3A5C"/>
          </a:solidFill>
          <a:ln/>
        </p:spPr>
      </p:sp>
      <p:sp>
        <p:nvSpPr>
          <p:cNvPr id="17" name="Text 15"/>
          <p:cNvSpPr/>
          <p:nvPr/>
        </p:nvSpPr>
        <p:spPr>
          <a:xfrm>
            <a:off x="11049000" y="4800600"/>
            <a:ext cx="502920" cy="502920"/>
          </a:xfrm>
          <a:prstGeom prst="rect">
            <a:avLst/>
          </a:prstGeom>
          <a:noFill/>
          <a:ln/>
        </p:spPr>
        <p:txBody>
          <a:bodyPr wrap="square" rtlCol="0" anchor="ctr"/>
          <a:lstStyle/>
          <a:p>
            <a:pPr rtl="1"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8" name="Text 16"/>
          <p:cNvSpPr/>
          <p:nvPr/>
        </p:nvSpPr>
        <p:spPr>
          <a:xfrm>
            <a:off x="899160" y="4754880"/>
            <a:ext cx="9966960" cy="594360"/>
          </a:xfrm>
          <a:prstGeom prst="rect">
            <a:avLst/>
          </a:prstGeom>
          <a:noFill/>
          <a:ln/>
        </p:spPr>
        <p:txBody>
          <a:bodyPr wrap="square" rtlCol="0" anchor="ctr"/>
          <a:lstStyle/>
          <a:p>
            <a:pPr rtl="1" algn="r" indent="0" marL="0">
              <a:buNone/>
            </a:pPr>
            <a:r>
              <a:rPr lang="en-US" sz="1550" dirty="0">
                <a:solidFill>
                  <a:srgbClr val="1D2939"/>
                </a:solidFill>
                <a:latin typeface="Arial" pitchFamily="34" charset="0"/>
                <a:ea typeface="Arial" pitchFamily="34" charset="-122"/>
                <a:cs typeface="Arial" pitchFamily="34" charset="-120"/>
              </a:rPr>
              <a:t>كيف يمكن تصميم نظام تقييم يعكس رأي جميع المستخدمين فعلياً؟</a:t>
            </a:r>
            <a:endParaRPr lang="en-US" sz="1550" dirty="0"/>
          </a:p>
        </p:txBody>
      </p:sp>
      <p:sp>
        <p:nvSpPr>
          <p:cNvPr id="19" name="Text 17"/>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0" name="Text 18"/>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579120" y="548640"/>
            <a:ext cx="11064240" cy="640080"/>
          </a:xfrm>
          <a:prstGeom prst="rect">
            <a:avLst/>
          </a:prstGeom>
          <a:noFill/>
          <a:ln/>
        </p:spPr>
        <p:txBody>
          <a:bodyPr wrap="square" rtlCol="0" anchor="ctr"/>
          <a:lstStyle/>
          <a:p>
            <a:pPr rtl="1" algn="r" indent="0" marL="0">
              <a:buNone/>
            </a:pPr>
            <a:r>
              <a:rPr lang="en-US" sz="3000" b="1" dirty="0">
                <a:solidFill>
                  <a:srgbClr val="FFFFFF"/>
                </a:solidFill>
                <a:latin typeface="Arial" pitchFamily="34" charset="0"/>
                <a:ea typeface="Arial" pitchFamily="34" charset="-122"/>
                <a:cs typeface="Arial" pitchFamily="34" charset="-120"/>
              </a:rPr>
              <a:t>أهداف البحث</a:t>
            </a:r>
            <a:endParaRPr lang="en-US" sz="3000" dirty="0"/>
          </a:p>
        </p:txBody>
      </p:sp>
      <p:sp>
        <p:nvSpPr>
          <p:cNvPr id="3" name="Text 1"/>
          <p:cNvSpPr/>
          <p:nvPr/>
        </p:nvSpPr>
        <p:spPr>
          <a:xfrm>
            <a:off x="579120" y="1143000"/>
            <a:ext cx="11064240" cy="365760"/>
          </a:xfrm>
          <a:prstGeom prst="rect">
            <a:avLst/>
          </a:prstGeom>
          <a:noFill/>
          <a:ln/>
        </p:spPr>
        <p:txBody>
          <a:bodyPr wrap="square" rtlCol="0" anchor="ctr"/>
          <a:lstStyle/>
          <a:p>
            <a:pPr rtl="1" algn="r" indent="0" marL="0">
              <a:buNone/>
            </a:pPr>
            <a:r>
              <a:rPr lang="en-US" sz="1400" i="1" dirty="0">
                <a:solidFill>
                  <a:srgbClr val="9FB3C8"/>
                </a:solidFill>
                <a:latin typeface="Arial" pitchFamily="34" charset="0"/>
                <a:ea typeface="Arial" pitchFamily="34" charset="-122"/>
                <a:cs typeface="Arial" pitchFamily="34" charset="-120"/>
              </a:rPr>
              <a:t>Research Objectives</a:t>
            </a:r>
            <a:endParaRPr lang="en-US" sz="1400" dirty="0"/>
          </a:p>
        </p:txBody>
      </p:sp>
      <p:pic>
        <p:nvPicPr>
          <p:cNvPr id="4" name="Image 0" descr="/home/claude/presentation/icons/target_FFFFFF.png">    </p:cNvPr>
          <p:cNvPicPr>
            <a:picLocks noChangeAspect="1"/>
          </p:cNvPicPr>
          <p:nvPr/>
        </p:nvPicPr>
        <p:blipFill>
          <a:blip r:embed="rId1"/>
          <a:stretch>
            <a:fillRect/>
          </a:stretch>
        </p:blipFill>
        <p:spPr>
          <a:xfrm>
            <a:off x="5882640" y="1920240"/>
            <a:ext cx="914400" cy="914400"/>
          </a:xfrm>
          <a:prstGeom prst="rect">
            <a:avLst/>
          </a:prstGeom>
        </p:spPr>
      </p:pic>
      <p:sp>
        <p:nvSpPr>
          <p:cNvPr id="5" name="Text 2"/>
          <p:cNvSpPr/>
          <p:nvPr/>
        </p:nvSpPr>
        <p:spPr>
          <a:xfrm>
            <a:off x="917448" y="2926080"/>
            <a:ext cx="10360152" cy="457200"/>
          </a:xfrm>
          <a:prstGeom prst="rect">
            <a:avLst/>
          </a:prstGeom>
          <a:noFill/>
          <a:ln/>
        </p:spPr>
        <p:txBody>
          <a:bodyPr wrap="square" rtlCol="0" anchor="ctr"/>
          <a:lstStyle/>
          <a:p>
            <a:pPr rtl="1" algn="ctr" indent="0" marL="0">
              <a:buNone/>
            </a:pPr>
            <a:r>
              <a:rPr lang="en-US" sz="1600" b="1" dirty="0">
                <a:solidFill>
                  <a:srgbClr val="5B7A99"/>
                </a:solidFill>
                <a:latin typeface="Arial" pitchFamily="34" charset="0"/>
                <a:ea typeface="Arial" pitchFamily="34" charset="-122"/>
                <a:cs typeface="Arial" pitchFamily="34" charset="-120"/>
              </a:rPr>
              <a:t>الهدف العام</a:t>
            </a:r>
            <a:endParaRPr lang="en-US" sz="1600" dirty="0"/>
          </a:p>
        </p:txBody>
      </p:sp>
      <p:sp>
        <p:nvSpPr>
          <p:cNvPr id="6" name="Text 3"/>
          <p:cNvSpPr/>
          <p:nvPr/>
        </p:nvSpPr>
        <p:spPr>
          <a:xfrm>
            <a:off x="1374648" y="3429000"/>
            <a:ext cx="9445752" cy="1463040"/>
          </a:xfrm>
          <a:prstGeom prst="rect">
            <a:avLst/>
          </a:prstGeom>
          <a:noFill/>
          <a:ln/>
        </p:spPr>
        <p:txBody>
          <a:bodyPr wrap="square" rtlCol="0" anchor="ctr"/>
          <a:lstStyle/>
          <a:p>
            <a:pPr rtl="1" algn="ctr" indent="0" marL="0">
              <a:buNone/>
            </a:pPr>
            <a:r>
              <a:rPr lang="en-US" sz="1900" b="1" dirty="0">
                <a:solidFill>
                  <a:srgbClr val="FFFFFF"/>
                </a:solidFill>
                <a:latin typeface="Arial" pitchFamily="34" charset="0"/>
                <a:ea typeface="Arial" pitchFamily="34" charset="-122"/>
                <a:cs typeface="Arial" pitchFamily="34" charset="-120"/>
              </a:rPr>
              <a:t>تصميم وتنفيذ تطبيق محمول يعمل وفق مبدأ العمل دون اتصال أولاً (Offline-First)، ليكون دليلاً رقمياً تفاعلياً وقابلاً للتحديث المستمر للمرافق الصحية بمدينة دنقلا</a:t>
            </a:r>
            <a:endParaRPr lang="en-US" sz="1900" dirty="0"/>
          </a:p>
        </p:txBody>
      </p:sp>
      <p:sp>
        <p:nvSpPr>
          <p:cNvPr id="7" name="Text 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8" name="Text 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الأهداف الفرعية (1 من 2)</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Sub-Objectives</a:t>
            </a:r>
            <a:endParaRPr lang="en-US" sz="1400" dirty="0"/>
          </a:p>
        </p:txBody>
      </p:sp>
      <p:sp>
        <p:nvSpPr>
          <p:cNvPr id="4" name="Shape 2"/>
          <p:cNvSpPr/>
          <p:nvPr/>
        </p:nvSpPr>
        <p:spPr>
          <a:xfrm>
            <a:off x="11094720" y="1737360"/>
            <a:ext cx="457200" cy="457200"/>
          </a:xfrm>
          <a:prstGeom prst="roundRect">
            <a:avLst>
              <a:gd name="adj" fmla="val 50000"/>
            </a:avLst>
          </a:prstGeom>
          <a:solidFill>
            <a:srgbClr val="5B7A99"/>
          </a:solidFill>
          <a:ln/>
        </p:spPr>
      </p:sp>
      <p:sp>
        <p:nvSpPr>
          <p:cNvPr id="5" name="Text 3"/>
          <p:cNvSpPr/>
          <p:nvPr/>
        </p:nvSpPr>
        <p:spPr>
          <a:xfrm>
            <a:off x="11094720" y="17373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853440" y="16916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جمع وتوثيق بيانات دقيقة لعينة من المرافق الصحية بمدينة دنقلا</a:t>
            </a:r>
            <a:endParaRPr lang="en-US" sz="1650" dirty="0"/>
          </a:p>
        </p:txBody>
      </p:sp>
      <p:sp>
        <p:nvSpPr>
          <p:cNvPr id="7" name="Shape 5"/>
          <p:cNvSpPr/>
          <p:nvPr/>
        </p:nvSpPr>
        <p:spPr>
          <a:xfrm>
            <a:off x="11094720" y="2651760"/>
            <a:ext cx="457200" cy="457200"/>
          </a:xfrm>
          <a:prstGeom prst="roundRect">
            <a:avLst>
              <a:gd name="adj" fmla="val 50000"/>
            </a:avLst>
          </a:prstGeom>
          <a:solidFill>
            <a:srgbClr val="5B7A99"/>
          </a:solidFill>
          <a:ln/>
        </p:spPr>
      </p:sp>
      <p:sp>
        <p:nvSpPr>
          <p:cNvPr id="8" name="Text 6"/>
          <p:cNvSpPr/>
          <p:nvPr/>
        </p:nvSpPr>
        <p:spPr>
          <a:xfrm>
            <a:off x="11094720" y="26517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9" name="Text 7"/>
          <p:cNvSpPr/>
          <p:nvPr/>
        </p:nvSpPr>
        <p:spPr>
          <a:xfrm>
            <a:off x="853440" y="26060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تصميم واجهات عربية حديثة تدعم اتجاه الكتابة من اليمين لليسار (RTL)</a:t>
            </a:r>
            <a:endParaRPr lang="en-US" sz="1650" dirty="0"/>
          </a:p>
        </p:txBody>
      </p:sp>
      <p:sp>
        <p:nvSpPr>
          <p:cNvPr id="10" name="Shape 8"/>
          <p:cNvSpPr/>
          <p:nvPr/>
        </p:nvSpPr>
        <p:spPr>
          <a:xfrm>
            <a:off x="11094720" y="3566160"/>
            <a:ext cx="457200" cy="457200"/>
          </a:xfrm>
          <a:prstGeom prst="roundRect">
            <a:avLst>
              <a:gd name="adj" fmla="val 50000"/>
            </a:avLst>
          </a:prstGeom>
          <a:solidFill>
            <a:srgbClr val="5B7A99"/>
          </a:solidFill>
          <a:ln/>
        </p:spPr>
      </p:sp>
      <p:sp>
        <p:nvSpPr>
          <p:cNvPr id="11" name="Text 9"/>
          <p:cNvSpPr/>
          <p:nvPr/>
        </p:nvSpPr>
        <p:spPr>
          <a:xfrm>
            <a:off x="11094720" y="35661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2" name="Text 10"/>
          <p:cNvSpPr/>
          <p:nvPr/>
        </p:nvSpPr>
        <p:spPr>
          <a:xfrm>
            <a:off x="853440" y="35204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بناء قاعدة بيانات محلية بـ SQLite لتخزين المرافق وخدماتها وتخصصاتها</a:t>
            </a:r>
            <a:endParaRPr lang="en-US" sz="1650" dirty="0"/>
          </a:p>
        </p:txBody>
      </p:sp>
      <p:sp>
        <p:nvSpPr>
          <p:cNvPr id="13" name="Shape 11"/>
          <p:cNvSpPr/>
          <p:nvPr/>
        </p:nvSpPr>
        <p:spPr>
          <a:xfrm>
            <a:off x="11094720" y="4480560"/>
            <a:ext cx="457200" cy="457200"/>
          </a:xfrm>
          <a:prstGeom prst="roundRect">
            <a:avLst>
              <a:gd name="adj" fmla="val 50000"/>
            </a:avLst>
          </a:prstGeom>
          <a:solidFill>
            <a:srgbClr val="5B7A99"/>
          </a:solidFill>
          <a:ln/>
        </p:spPr>
      </p:sp>
      <p:sp>
        <p:nvSpPr>
          <p:cNvPr id="14" name="Text 12"/>
          <p:cNvSpPr/>
          <p:nvPr/>
        </p:nvSpPr>
        <p:spPr>
          <a:xfrm>
            <a:off x="11094720" y="44805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5" name="Text 13"/>
          <p:cNvSpPr/>
          <p:nvPr/>
        </p:nvSpPr>
        <p:spPr>
          <a:xfrm>
            <a:off x="853440" y="44348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تمكين فتح الموقع الفعلي لأي منشأة مباشرة في تطبيق خرائط جوجل</a:t>
            </a:r>
            <a:endParaRPr lang="en-US" sz="1650" dirty="0"/>
          </a:p>
        </p:txBody>
      </p:sp>
      <p:sp>
        <p:nvSpPr>
          <p:cNvPr id="16"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7"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الأهداف الفرعية (2 من 2)</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Sub-Objectives</a:t>
            </a:r>
            <a:endParaRPr lang="en-US" sz="1400" dirty="0"/>
          </a:p>
        </p:txBody>
      </p:sp>
      <p:sp>
        <p:nvSpPr>
          <p:cNvPr id="4" name="Shape 2"/>
          <p:cNvSpPr/>
          <p:nvPr/>
        </p:nvSpPr>
        <p:spPr>
          <a:xfrm>
            <a:off x="11094720" y="1737360"/>
            <a:ext cx="457200" cy="457200"/>
          </a:xfrm>
          <a:prstGeom prst="roundRect">
            <a:avLst>
              <a:gd name="adj" fmla="val 50000"/>
            </a:avLst>
          </a:prstGeom>
          <a:solidFill>
            <a:srgbClr val="5B7A99"/>
          </a:solidFill>
          <a:ln/>
        </p:spPr>
      </p:sp>
      <p:sp>
        <p:nvSpPr>
          <p:cNvPr id="5" name="Text 3"/>
          <p:cNvSpPr/>
          <p:nvPr/>
        </p:nvSpPr>
        <p:spPr>
          <a:xfrm>
            <a:off x="11094720" y="17373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6" name="Text 4"/>
          <p:cNvSpPr/>
          <p:nvPr/>
        </p:nvSpPr>
        <p:spPr>
          <a:xfrm>
            <a:off x="853440" y="16916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تصميم آلية مزامنة خفيفة عبر GitHub تُحدِّث البيانات تلقائياً</a:t>
            </a:r>
            <a:endParaRPr lang="en-US" sz="1650" dirty="0"/>
          </a:p>
        </p:txBody>
      </p:sp>
      <p:sp>
        <p:nvSpPr>
          <p:cNvPr id="7" name="Shape 5"/>
          <p:cNvSpPr/>
          <p:nvPr/>
        </p:nvSpPr>
        <p:spPr>
          <a:xfrm>
            <a:off x="11094720" y="2651760"/>
            <a:ext cx="457200" cy="457200"/>
          </a:xfrm>
          <a:prstGeom prst="roundRect">
            <a:avLst>
              <a:gd name="adj" fmla="val 50000"/>
            </a:avLst>
          </a:prstGeom>
          <a:solidFill>
            <a:srgbClr val="5B7A99"/>
          </a:solidFill>
          <a:ln/>
        </p:spPr>
      </p:sp>
      <p:sp>
        <p:nvSpPr>
          <p:cNvPr id="8" name="Text 6"/>
          <p:cNvSpPr/>
          <p:nvPr/>
        </p:nvSpPr>
        <p:spPr>
          <a:xfrm>
            <a:off x="11094720" y="26517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9" name="Text 7"/>
          <p:cNvSpPr/>
          <p:nvPr/>
        </p:nvSpPr>
        <p:spPr>
          <a:xfrm>
            <a:off x="853440" y="26060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بناء لوحة تحكم إلكترونية (Admin Panel) لإدارة المحتوى بسهولة</a:t>
            </a:r>
            <a:endParaRPr lang="en-US" sz="1650" dirty="0"/>
          </a:p>
        </p:txBody>
      </p:sp>
      <p:sp>
        <p:nvSpPr>
          <p:cNvPr id="10" name="Shape 8"/>
          <p:cNvSpPr/>
          <p:nvPr/>
        </p:nvSpPr>
        <p:spPr>
          <a:xfrm>
            <a:off x="11094720" y="3566160"/>
            <a:ext cx="457200" cy="457200"/>
          </a:xfrm>
          <a:prstGeom prst="roundRect">
            <a:avLst>
              <a:gd name="adj" fmla="val 50000"/>
            </a:avLst>
          </a:prstGeom>
          <a:solidFill>
            <a:srgbClr val="5B7A99"/>
          </a:solidFill>
          <a:ln/>
        </p:spPr>
      </p:sp>
      <p:sp>
        <p:nvSpPr>
          <p:cNvPr id="11" name="Text 9"/>
          <p:cNvSpPr/>
          <p:nvPr/>
        </p:nvSpPr>
        <p:spPr>
          <a:xfrm>
            <a:off x="11094720" y="35661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7</a:t>
            </a:r>
            <a:endParaRPr lang="en-US" sz="1500" dirty="0"/>
          </a:p>
        </p:txBody>
      </p:sp>
      <p:sp>
        <p:nvSpPr>
          <p:cNvPr id="12" name="Text 10"/>
          <p:cNvSpPr/>
          <p:nvPr/>
        </p:nvSpPr>
        <p:spPr>
          <a:xfrm>
            <a:off x="853440" y="35204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تصميم نظام تقييم إلكتروني يعرض متوسط تقييم جميع المستخدمين</a:t>
            </a:r>
            <a:endParaRPr lang="en-US" sz="1650" dirty="0"/>
          </a:p>
        </p:txBody>
      </p:sp>
      <p:sp>
        <p:nvSpPr>
          <p:cNvPr id="13" name="Shape 11"/>
          <p:cNvSpPr/>
          <p:nvPr/>
        </p:nvSpPr>
        <p:spPr>
          <a:xfrm>
            <a:off x="11094720" y="4480560"/>
            <a:ext cx="457200" cy="457200"/>
          </a:xfrm>
          <a:prstGeom prst="roundRect">
            <a:avLst>
              <a:gd name="adj" fmla="val 50000"/>
            </a:avLst>
          </a:prstGeom>
          <a:solidFill>
            <a:srgbClr val="5B7A99"/>
          </a:solidFill>
          <a:ln/>
        </p:spPr>
      </p:sp>
      <p:sp>
        <p:nvSpPr>
          <p:cNvPr id="14" name="Text 12"/>
          <p:cNvSpPr/>
          <p:nvPr/>
        </p:nvSpPr>
        <p:spPr>
          <a:xfrm>
            <a:off x="11094720" y="4480560"/>
            <a:ext cx="457200" cy="457200"/>
          </a:xfrm>
          <a:prstGeom prst="rect">
            <a:avLst/>
          </a:prstGeom>
          <a:noFill/>
          <a:ln/>
        </p:spPr>
        <p:txBody>
          <a:bodyPr wrap="square" rtlCol="0" anchor="ctr"/>
          <a:lstStyle/>
          <a:p>
            <a:pPr rtl="1" algn="ctr" indent="0" marL="0">
              <a:buNone/>
            </a:pPr>
            <a:r>
              <a:rPr lang="en-US" sz="1500" b="1" dirty="0">
                <a:solidFill>
                  <a:srgbClr val="FFFFFF"/>
                </a:solidFill>
                <a:latin typeface="Arial" pitchFamily="34" charset="0"/>
                <a:ea typeface="Arial" pitchFamily="34" charset="-122"/>
                <a:cs typeface="Arial" pitchFamily="34" charset="-120"/>
              </a:rPr>
              <a:t>8</a:t>
            </a:r>
            <a:endParaRPr lang="en-US" sz="1500" dirty="0"/>
          </a:p>
        </p:txBody>
      </p:sp>
      <p:sp>
        <p:nvSpPr>
          <p:cNvPr id="15" name="Text 13"/>
          <p:cNvSpPr/>
          <p:nvPr/>
        </p:nvSpPr>
        <p:spPr>
          <a:xfrm>
            <a:off x="853440" y="4434840"/>
            <a:ext cx="10058400" cy="685800"/>
          </a:xfrm>
          <a:prstGeom prst="rect">
            <a:avLst/>
          </a:prstGeom>
          <a:noFill/>
          <a:ln/>
        </p:spPr>
        <p:txBody>
          <a:bodyPr wrap="square" rtlCol="0" anchor="ctr"/>
          <a:lstStyle/>
          <a:p>
            <a:pPr rtl="1" algn="r" indent="0" marL="0">
              <a:buNone/>
            </a:pPr>
            <a:r>
              <a:rPr lang="en-US" sz="1650" dirty="0">
                <a:solidFill>
                  <a:srgbClr val="1D2939"/>
                </a:solidFill>
                <a:latin typeface="Arial" pitchFamily="34" charset="0"/>
                <a:ea typeface="Arial" pitchFamily="34" charset="-122"/>
                <a:cs typeface="Arial" pitchFamily="34" charset="-120"/>
              </a:rPr>
              <a:t>اختبار التطبيق والتحقق من استقراره في بيئتي الاتصال وانعدامه</a:t>
            </a:r>
            <a:endParaRPr lang="en-US" sz="1650" dirty="0"/>
          </a:p>
        </p:txBody>
      </p:sp>
      <p:sp>
        <p:nvSpPr>
          <p:cNvPr id="16"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7"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الأهداف على أرض الواقع</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Objectives in Action</a:t>
            </a:r>
            <a:endParaRPr lang="en-US" sz="1400" dirty="0"/>
          </a:p>
        </p:txBody>
      </p:sp>
      <p:pic>
        <p:nvPicPr>
          <p:cNvPr id="4" name="Image 0" descr="/home/claude/presentation/images/screen_home.jpg">    </p:cNvPr>
          <p:cNvPicPr>
            <a:picLocks noChangeAspect="1"/>
          </p:cNvPicPr>
          <p:nvPr/>
        </p:nvPicPr>
        <p:blipFill>
          <a:blip r:embed="rId1"/>
          <a:srcRect l="0" r="0" t="-44737" b="-44737"/>
          <a:stretch/>
        </p:blipFill>
        <p:spPr>
          <a:xfrm>
            <a:off x="8671560" y="1600200"/>
            <a:ext cx="2606040" cy="4937760"/>
          </a:xfrm>
          <a:prstGeom prst="rect">
            <a:avLst/>
          </a:prstGeom>
        </p:spPr>
      </p:pic>
      <p:pic>
        <p:nvPicPr>
          <p:cNvPr id="5" name="Image 1" descr="/home/claude/presentation/images/screen_category.jpg">    </p:cNvPr>
          <p:cNvPicPr>
            <a:picLocks noChangeAspect="1"/>
          </p:cNvPicPr>
          <p:nvPr/>
        </p:nvPicPr>
        <p:blipFill>
          <a:blip r:embed="rId2"/>
          <a:srcRect l="0" r="0" t="-44737" b="-44737"/>
          <a:stretch/>
        </p:blipFill>
        <p:spPr>
          <a:xfrm>
            <a:off x="5562600" y="1600200"/>
            <a:ext cx="2606040" cy="4937760"/>
          </a:xfrm>
          <a:prstGeom prst="rect">
            <a:avLst/>
          </a:prstGeom>
        </p:spPr>
      </p:pic>
      <p:sp>
        <p:nvSpPr>
          <p:cNvPr id="6" name="Text 2"/>
          <p:cNvSpPr/>
          <p:nvPr/>
        </p:nvSpPr>
        <p:spPr>
          <a:xfrm>
            <a:off x="670560" y="1828800"/>
            <a:ext cx="4480560" cy="4389120"/>
          </a:xfrm>
          <a:prstGeom prst="rect">
            <a:avLst/>
          </a:prstGeom>
          <a:noFill/>
          <a:ln/>
        </p:spPr>
        <p:txBody>
          <a:bodyPr wrap="square" rtlCol="0" anchor="t"/>
          <a:lstStyle/>
          <a:p>
            <a:pPr rtl="1" algn="l" indent="0" marL="0">
              <a:lnSpc>
                <a:spcPct val="130000"/>
              </a:lnSpc>
              <a:buNone/>
            </a:pPr>
            <a:r>
              <a:rPr lang="en-US" sz="1500" b="1" dirty="0">
                <a:solidFill>
                  <a:srgbClr val="1D2939"/>
                </a:solidFill>
                <a:latin typeface="Arial" pitchFamily="34" charset="0"/>
                <a:ea typeface="Arial" pitchFamily="34" charset="-122"/>
                <a:cs typeface="Arial" pitchFamily="34" charset="-120"/>
              </a:rPr>
              <a:t>الشاشة الرئيسة</a:t>
            </a:r>
            <a:endParaRPr lang="en-US" sz="1500" dirty="0"/>
          </a:p>
          <a:p>
            <a:pPr rtl="1" algn="l" indent="0" marL="0">
              <a:lnSpc>
                <a:spcPct val="130000"/>
              </a:lnSpc>
              <a:buNone/>
            </a:pPr>
            <a:r>
              <a:rPr lang="en-US" sz="1300" dirty="0">
                <a:solidFill>
                  <a:srgbClr val="1D2939"/>
                </a:solidFill>
                <a:latin typeface="Arial" pitchFamily="34" charset="0"/>
                <a:ea typeface="Arial" pitchFamily="34" charset="-122"/>
                <a:cs typeface="Arial" pitchFamily="34" charset="-120"/>
              </a:rPr>
              <a:t>بانر تعريفي + شبكة أقسام تغطي كل فئات المرافق</a:t>
            </a:r>
            <a:endParaRPr lang="en-US" sz="1500" dirty="0"/>
          </a:p>
          <a:p>
            <a:pPr rtl="1" algn="l" indent="0" marL="0">
              <a:lnSpc>
                <a:spcPct val="130000"/>
              </a:lnSpc>
              <a:buNone/>
            </a:pPr>
            <a:r>
              <a:rPr lang="en-US" sz="1500" dirty="0">
                <a:solidFill>
                  <a:srgbClr val="1D2939"/>
                </a:solidFill>
                <a:latin typeface="Arial" pitchFamily="34" charset="0"/>
                <a:ea typeface="Arial" pitchFamily="34" charset="-122"/>
                <a:cs typeface="Arial" pitchFamily="34" charset="-120"/>
              </a:rPr>
              <a:t> </a:t>
            </a:r>
            <a:endParaRPr lang="en-US" sz="1500" dirty="0"/>
          </a:p>
          <a:p>
            <a:pPr rtl="1" algn="l" indent="0" marL="0">
              <a:lnSpc>
                <a:spcPct val="130000"/>
              </a:lnSpc>
              <a:buNone/>
            </a:pPr>
            <a:r>
              <a:rPr lang="en-US" sz="1500" b="1" dirty="0">
                <a:solidFill>
                  <a:srgbClr val="1D2939"/>
                </a:solidFill>
                <a:latin typeface="Arial" pitchFamily="34" charset="0"/>
                <a:ea typeface="Arial" pitchFamily="34" charset="-122"/>
                <a:cs typeface="Arial" pitchFamily="34" charset="-120"/>
              </a:rPr>
              <a:t>شاشة تصفح فئة</a:t>
            </a:r>
            <a:endParaRPr lang="en-US" sz="1500" dirty="0"/>
          </a:p>
          <a:p>
            <a:pPr rtl="1" algn="l" indent="0" marL="0">
              <a:lnSpc>
                <a:spcPct val="130000"/>
              </a:lnSpc>
              <a:buNone/>
            </a:pPr>
            <a:r>
              <a:rPr lang="en-US" sz="1300" dirty="0">
                <a:solidFill>
                  <a:srgbClr val="1D2939"/>
                </a:solidFill>
                <a:latin typeface="Arial" pitchFamily="34" charset="0"/>
                <a:ea typeface="Arial" pitchFamily="34" charset="-122"/>
                <a:cs typeface="Arial" pitchFamily="34" charset="-120"/>
              </a:rPr>
              <a:t>بحث فوري وفلترة، مع بيانات مرافق حقيقية موثّقة ميدانياً</a:t>
            </a:r>
            <a:endParaRPr lang="en-US" sz="1500" dirty="0"/>
          </a:p>
        </p:txBody>
      </p:sp>
      <p:sp>
        <p:nvSpPr>
          <p:cNvPr id="7" name="Text 3"/>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8" name="Text 4"/>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أهمية البحث</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Research Significance</a:t>
            </a:r>
            <a:endParaRPr lang="en-US" sz="1400" dirty="0"/>
          </a:p>
        </p:txBody>
      </p:sp>
      <p:sp>
        <p:nvSpPr>
          <p:cNvPr id="4" name="Shape 2"/>
          <p:cNvSpPr/>
          <p:nvPr/>
        </p:nvSpPr>
        <p:spPr>
          <a:xfrm>
            <a:off x="7985760" y="1828800"/>
            <a:ext cx="3429000" cy="3566160"/>
          </a:xfrm>
          <a:prstGeom prst="roundRect">
            <a:avLst>
              <a:gd name="adj" fmla="val 3200"/>
            </a:avLst>
          </a:prstGeom>
          <a:solidFill>
            <a:srgbClr val="FFFFFF"/>
          </a:solidFill>
          <a:ln w="12700">
            <a:solidFill>
              <a:srgbClr val="E7ECF2"/>
            </a:solidFill>
            <a:prstDash val="solid"/>
          </a:ln>
          <a:effectLst>
            <a:outerShdw sx="100000" sy="100000" kx="0" ky="0" algn="bl" rotWithShape="0" blurRad="101600" dist="38100" dir="5400000">
              <a:srgbClr val="000000">
                <a:alpha val="12000"/>
              </a:srgbClr>
            </a:outerShdw>
          </a:effectLst>
        </p:spPr>
      </p:sp>
      <p:sp>
        <p:nvSpPr>
          <p:cNvPr id="5" name="Shape 3"/>
          <p:cNvSpPr/>
          <p:nvPr/>
        </p:nvSpPr>
        <p:spPr>
          <a:xfrm>
            <a:off x="9243060" y="2148840"/>
            <a:ext cx="914400" cy="914400"/>
          </a:xfrm>
          <a:prstGeom prst="oval">
            <a:avLst/>
          </a:prstGeom>
          <a:solidFill>
            <a:srgbClr val="10263F"/>
          </a:solidFill>
          <a:ln/>
        </p:spPr>
      </p:sp>
      <p:pic>
        <p:nvPicPr>
          <p:cNvPr id="6" name="Image 0" descr="/home/claude/presentation/icons/book_FFFFFF.png">    </p:cNvPr>
          <p:cNvPicPr>
            <a:picLocks noChangeAspect="1"/>
          </p:cNvPicPr>
          <p:nvPr/>
        </p:nvPicPr>
        <p:blipFill>
          <a:blip r:embed="rId1"/>
          <a:stretch>
            <a:fillRect/>
          </a:stretch>
        </p:blipFill>
        <p:spPr>
          <a:xfrm>
            <a:off x="9425940" y="2331720"/>
            <a:ext cx="548640" cy="548640"/>
          </a:xfrm>
          <a:prstGeom prst="rect">
            <a:avLst/>
          </a:prstGeom>
        </p:spPr>
      </p:pic>
      <p:sp>
        <p:nvSpPr>
          <p:cNvPr id="7" name="Text 4"/>
          <p:cNvSpPr/>
          <p:nvPr/>
        </p:nvSpPr>
        <p:spPr>
          <a:xfrm>
            <a:off x="8168640" y="3246120"/>
            <a:ext cx="3063240" cy="45720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أكاديمية</a:t>
            </a:r>
            <a:endParaRPr lang="en-US" sz="1600" dirty="0"/>
          </a:p>
        </p:txBody>
      </p:sp>
      <p:sp>
        <p:nvSpPr>
          <p:cNvPr id="8" name="Text 5"/>
          <p:cNvSpPr/>
          <p:nvPr/>
        </p:nvSpPr>
        <p:spPr>
          <a:xfrm>
            <a:off x="8260080" y="3794760"/>
            <a:ext cx="2880360" cy="1463040"/>
          </a:xfrm>
          <a:prstGeom prst="rect">
            <a:avLst/>
          </a:prstGeom>
          <a:noFill/>
          <a:ln/>
        </p:spPr>
        <p:txBody>
          <a:bodyPr wrap="square" rtlCol="0" anchor="t"/>
          <a:lstStyle/>
          <a:p>
            <a:pPr rtl="1" algn="ctr" indent="0" marL="0">
              <a:buNone/>
            </a:pPr>
            <a:r>
              <a:rPr lang="en-US" sz="1300" dirty="0">
                <a:solidFill>
                  <a:srgbClr val="64748B"/>
                </a:solidFill>
                <a:latin typeface="Arial" pitchFamily="34" charset="0"/>
                <a:ea typeface="Arial" pitchFamily="34" charset="-122"/>
                <a:cs typeface="Arial" pitchFamily="34" charset="-120"/>
              </a:rPr>
              <a:t>نموذج معماري هجين (Offline-First + مزامنة خفيفة) قابل للتعميم</a:t>
            </a:r>
            <a:endParaRPr lang="en-US" sz="1300" dirty="0"/>
          </a:p>
        </p:txBody>
      </p:sp>
      <p:sp>
        <p:nvSpPr>
          <p:cNvPr id="9" name="Shape 6"/>
          <p:cNvSpPr/>
          <p:nvPr/>
        </p:nvSpPr>
        <p:spPr>
          <a:xfrm>
            <a:off x="4236720" y="1828800"/>
            <a:ext cx="3429000" cy="3566160"/>
          </a:xfrm>
          <a:prstGeom prst="roundRect">
            <a:avLst>
              <a:gd name="adj" fmla="val 3200"/>
            </a:avLst>
          </a:prstGeom>
          <a:solidFill>
            <a:srgbClr val="FFFFFF"/>
          </a:solidFill>
          <a:ln w="12700">
            <a:solidFill>
              <a:srgbClr val="E7ECF2"/>
            </a:solidFill>
            <a:prstDash val="solid"/>
          </a:ln>
          <a:effectLst>
            <a:outerShdw sx="100000" sy="100000" kx="0" ky="0" algn="bl" rotWithShape="0" blurRad="101600" dist="38100" dir="5400000">
              <a:srgbClr val="000000">
                <a:alpha val="12000"/>
              </a:srgbClr>
            </a:outerShdw>
          </a:effectLst>
        </p:spPr>
      </p:sp>
      <p:sp>
        <p:nvSpPr>
          <p:cNvPr id="10" name="Shape 7"/>
          <p:cNvSpPr/>
          <p:nvPr/>
        </p:nvSpPr>
        <p:spPr>
          <a:xfrm>
            <a:off x="5494020" y="2148840"/>
            <a:ext cx="914400" cy="914400"/>
          </a:xfrm>
          <a:prstGeom prst="oval">
            <a:avLst/>
          </a:prstGeom>
          <a:solidFill>
            <a:srgbClr val="10263F"/>
          </a:solidFill>
          <a:ln/>
        </p:spPr>
      </p:sp>
      <p:pic>
        <p:nvPicPr>
          <p:cNvPr id="11" name="Image 1" descr="/home/claude/presentation/icons/hands_FFFFFF.png">    </p:cNvPr>
          <p:cNvPicPr>
            <a:picLocks noChangeAspect="1"/>
          </p:cNvPicPr>
          <p:nvPr/>
        </p:nvPicPr>
        <p:blipFill>
          <a:blip r:embed="rId2"/>
          <a:stretch>
            <a:fillRect/>
          </a:stretch>
        </p:blipFill>
        <p:spPr>
          <a:xfrm>
            <a:off x="5676900" y="2331720"/>
            <a:ext cx="548640" cy="548640"/>
          </a:xfrm>
          <a:prstGeom prst="rect">
            <a:avLst/>
          </a:prstGeom>
        </p:spPr>
      </p:pic>
      <p:sp>
        <p:nvSpPr>
          <p:cNvPr id="12" name="Text 8"/>
          <p:cNvSpPr/>
          <p:nvPr/>
        </p:nvSpPr>
        <p:spPr>
          <a:xfrm>
            <a:off x="4419600" y="3246120"/>
            <a:ext cx="3063240" cy="45720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تطبيقية ومجتمعية</a:t>
            </a:r>
            <a:endParaRPr lang="en-US" sz="1600" dirty="0"/>
          </a:p>
        </p:txBody>
      </p:sp>
      <p:sp>
        <p:nvSpPr>
          <p:cNvPr id="13" name="Text 9"/>
          <p:cNvSpPr/>
          <p:nvPr/>
        </p:nvSpPr>
        <p:spPr>
          <a:xfrm>
            <a:off x="4511040" y="3794760"/>
            <a:ext cx="2880360" cy="1463040"/>
          </a:xfrm>
          <a:prstGeom prst="rect">
            <a:avLst/>
          </a:prstGeom>
          <a:noFill/>
          <a:ln/>
        </p:spPr>
        <p:txBody>
          <a:bodyPr wrap="square" rtlCol="0" anchor="t"/>
          <a:lstStyle/>
          <a:p>
            <a:pPr rtl="1" algn="ctr" indent="0" marL="0">
              <a:buNone/>
            </a:pPr>
            <a:r>
              <a:rPr lang="en-US" sz="1300" dirty="0">
                <a:solidFill>
                  <a:srgbClr val="64748B"/>
                </a:solidFill>
                <a:latin typeface="Arial" pitchFamily="34" charset="0"/>
                <a:ea typeface="Arial" pitchFamily="34" charset="-122"/>
                <a:cs typeface="Arial" pitchFamily="34" charset="-120"/>
              </a:rPr>
              <a:t>وصول أسرع للخدمة الصحية المناسبة، خصوصاً في الحالات الطارئة</a:t>
            </a:r>
            <a:endParaRPr lang="en-US" sz="1300" dirty="0"/>
          </a:p>
        </p:txBody>
      </p:sp>
      <p:sp>
        <p:nvSpPr>
          <p:cNvPr id="14" name="Shape 10"/>
          <p:cNvSpPr/>
          <p:nvPr/>
        </p:nvSpPr>
        <p:spPr>
          <a:xfrm>
            <a:off x="487680" y="1828800"/>
            <a:ext cx="3429000" cy="3566160"/>
          </a:xfrm>
          <a:prstGeom prst="roundRect">
            <a:avLst>
              <a:gd name="adj" fmla="val 3200"/>
            </a:avLst>
          </a:prstGeom>
          <a:solidFill>
            <a:srgbClr val="FFFFFF"/>
          </a:solidFill>
          <a:ln w="12700">
            <a:solidFill>
              <a:srgbClr val="E7ECF2"/>
            </a:solidFill>
            <a:prstDash val="solid"/>
          </a:ln>
          <a:effectLst>
            <a:outerShdw sx="100000" sy="100000" kx="0" ky="0" algn="bl" rotWithShape="0" blurRad="101600" dist="38100" dir="5400000">
              <a:srgbClr val="000000">
                <a:alpha val="12000"/>
              </a:srgbClr>
            </a:outerShdw>
          </a:effectLst>
        </p:spPr>
      </p:sp>
      <p:sp>
        <p:nvSpPr>
          <p:cNvPr id="15" name="Shape 11"/>
          <p:cNvSpPr/>
          <p:nvPr/>
        </p:nvSpPr>
        <p:spPr>
          <a:xfrm>
            <a:off x="1744980" y="2148840"/>
            <a:ext cx="914400" cy="914400"/>
          </a:xfrm>
          <a:prstGeom prst="oval">
            <a:avLst/>
          </a:prstGeom>
          <a:solidFill>
            <a:srgbClr val="10263F"/>
          </a:solidFill>
          <a:ln/>
        </p:spPr>
      </p:sp>
      <p:pic>
        <p:nvPicPr>
          <p:cNvPr id="16" name="Image 2" descr="/home/claude/presentation/icons/chart_FFFFFF.png">    </p:cNvPr>
          <p:cNvPicPr>
            <a:picLocks noChangeAspect="1"/>
          </p:cNvPicPr>
          <p:nvPr/>
        </p:nvPicPr>
        <p:blipFill>
          <a:blip r:embed="rId3"/>
          <a:stretch>
            <a:fillRect/>
          </a:stretch>
        </p:blipFill>
        <p:spPr>
          <a:xfrm>
            <a:off x="1927860" y="2331720"/>
            <a:ext cx="548640" cy="548640"/>
          </a:xfrm>
          <a:prstGeom prst="rect">
            <a:avLst/>
          </a:prstGeom>
        </p:spPr>
      </p:pic>
      <p:sp>
        <p:nvSpPr>
          <p:cNvPr id="17" name="Text 12"/>
          <p:cNvSpPr/>
          <p:nvPr/>
        </p:nvSpPr>
        <p:spPr>
          <a:xfrm>
            <a:off x="670560" y="3246120"/>
            <a:ext cx="3063240" cy="45720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اقتصادية</a:t>
            </a:r>
            <a:endParaRPr lang="en-US" sz="1600" dirty="0"/>
          </a:p>
        </p:txBody>
      </p:sp>
      <p:sp>
        <p:nvSpPr>
          <p:cNvPr id="18" name="Text 13"/>
          <p:cNvSpPr/>
          <p:nvPr/>
        </p:nvSpPr>
        <p:spPr>
          <a:xfrm>
            <a:off x="762000" y="3794760"/>
            <a:ext cx="2880360" cy="1463040"/>
          </a:xfrm>
          <a:prstGeom prst="rect">
            <a:avLst/>
          </a:prstGeom>
          <a:noFill/>
          <a:ln/>
        </p:spPr>
        <p:txBody>
          <a:bodyPr wrap="square" rtlCol="0" anchor="t"/>
          <a:lstStyle/>
          <a:p>
            <a:pPr rtl="1" algn="ctr" indent="0" marL="0">
              <a:buNone/>
            </a:pPr>
            <a:r>
              <a:rPr lang="en-US" sz="1300" dirty="0">
                <a:solidFill>
                  <a:srgbClr val="64748B"/>
                </a:solidFill>
                <a:latin typeface="Arial" pitchFamily="34" charset="0"/>
                <a:ea typeface="Arial" pitchFamily="34" charset="-122"/>
                <a:cs typeface="Arial" pitchFamily="34" charset="-120"/>
              </a:rPr>
              <a:t>الاعتماد على أدوات مجانية بالكامل (Flutter، SQLite، GitHub)</a:t>
            </a:r>
            <a:endParaRPr lang="en-US" sz="1300" dirty="0"/>
          </a:p>
        </p:txBody>
      </p:sp>
      <p:sp>
        <p:nvSpPr>
          <p:cNvPr id="19"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0"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حدود البحث</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Research Scope</a:t>
            </a:r>
            <a:endParaRPr lang="en-US" sz="1400" dirty="0"/>
          </a:p>
        </p:txBody>
      </p:sp>
      <p:sp>
        <p:nvSpPr>
          <p:cNvPr id="4" name="Shape 2"/>
          <p:cNvSpPr/>
          <p:nvPr/>
        </p:nvSpPr>
        <p:spPr>
          <a:xfrm>
            <a:off x="10911840" y="1691640"/>
            <a:ext cx="640080" cy="777240"/>
          </a:xfrm>
          <a:prstGeom prst="roundRect">
            <a:avLst>
              <a:gd name="adj" fmla="val 14286"/>
            </a:avLst>
          </a:prstGeom>
          <a:solidFill>
            <a:srgbClr val="F4F5F7"/>
          </a:solidFill>
          <a:ln/>
        </p:spPr>
      </p:sp>
      <p:pic>
        <p:nvPicPr>
          <p:cNvPr id="5" name="Image 0" descr="/home/claude/presentation/icons/clipboard_1B3A5C.png">    </p:cNvPr>
          <p:cNvPicPr>
            <a:picLocks noChangeAspect="1"/>
          </p:cNvPicPr>
          <p:nvPr/>
        </p:nvPicPr>
        <p:blipFill>
          <a:blip r:embed="rId1"/>
          <a:stretch>
            <a:fillRect/>
          </a:stretch>
        </p:blipFill>
        <p:spPr>
          <a:xfrm>
            <a:off x="11049000" y="1828800"/>
            <a:ext cx="365760" cy="365760"/>
          </a:xfrm>
          <a:prstGeom prst="rect">
            <a:avLst/>
          </a:prstGeom>
        </p:spPr>
      </p:pic>
      <p:sp>
        <p:nvSpPr>
          <p:cNvPr id="6" name="Text 3"/>
          <p:cNvSpPr/>
          <p:nvPr/>
        </p:nvSpPr>
        <p:spPr>
          <a:xfrm>
            <a:off x="9128760" y="1691640"/>
            <a:ext cx="1645920" cy="777240"/>
          </a:xfrm>
          <a:prstGeom prst="rect">
            <a:avLst/>
          </a:prstGeom>
          <a:noFill/>
          <a:ln/>
        </p:spPr>
        <p:txBody>
          <a:bodyPr wrap="square" rtlCol="0" anchor="ctr"/>
          <a:lstStyle/>
          <a:p>
            <a:pPr rtl="1" algn="l" indent="0" marL="0">
              <a:buNone/>
            </a:pPr>
            <a:r>
              <a:rPr lang="en-US" sz="1500" b="1" dirty="0">
                <a:solidFill>
                  <a:srgbClr val="1B3A5C"/>
                </a:solidFill>
                <a:latin typeface="Arial" pitchFamily="34" charset="0"/>
                <a:ea typeface="Arial" pitchFamily="34" charset="-122"/>
                <a:cs typeface="Arial" pitchFamily="34" charset="-120"/>
              </a:rPr>
              <a:t>موضوعية</a:t>
            </a:r>
            <a:endParaRPr lang="en-US" sz="1500" dirty="0"/>
          </a:p>
        </p:txBody>
      </p:sp>
      <p:sp>
        <p:nvSpPr>
          <p:cNvPr id="7" name="Text 4"/>
          <p:cNvSpPr/>
          <p:nvPr/>
        </p:nvSpPr>
        <p:spPr>
          <a:xfrm>
            <a:off x="899160" y="1691640"/>
            <a:ext cx="8138160" cy="777240"/>
          </a:xfrm>
          <a:prstGeom prst="rect">
            <a:avLst/>
          </a:prstGeom>
          <a:noFill/>
          <a:ln/>
        </p:spPr>
        <p:txBody>
          <a:bodyPr wrap="square" rtlCol="0" anchor="ctr"/>
          <a:lstStyle/>
          <a:p>
            <a:pPr rtl="1" algn="l" indent="0" marL="0">
              <a:buNone/>
            </a:pPr>
            <a:r>
              <a:rPr lang="en-US" sz="1400" dirty="0">
                <a:solidFill>
                  <a:srgbClr val="1D2939"/>
                </a:solidFill>
                <a:latin typeface="Arial" pitchFamily="34" charset="0"/>
                <a:ea typeface="Arial" pitchFamily="34" charset="-122"/>
                <a:cs typeface="Arial" pitchFamily="34" charset="-120"/>
              </a:rPr>
              <a:t>18 منشأة صحية: مستشفيات، مراكز، معامل، صيدليات</a:t>
            </a:r>
            <a:endParaRPr lang="en-US" sz="1400" dirty="0"/>
          </a:p>
        </p:txBody>
      </p:sp>
      <p:sp>
        <p:nvSpPr>
          <p:cNvPr id="8" name="Shape 5"/>
          <p:cNvSpPr/>
          <p:nvPr/>
        </p:nvSpPr>
        <p:spPr>
          <a:xfrm>
            <a:off x="10911840" y="2651760"/>
            <a:ext cx="640080" cy="777240"/>
          </a:xfrm>
          <a:prstGeom prst="roundRect">
            <a:avLst>
              <a:gd name="adj" fmla="val 14286"/>
            </a:avLst>
          </a:prstGeom>
          <a:solidFill>
            <a:srgbClr val="F4F5F7"/>
          </a:solidFill>
          <a:ln/>
        </p:spPr>
      </p:sp>
      <p:pic>
        <p:nvPicPr>
          <p:cNvPr id="9" name="Image 1" descr="/home/claude/presentation/icons/marker_1B3A5C.png">    </p:cNvPr>
          <p:cNvPicPr>
            <a:picLocks noChangeAspect="1"/>
          </p:cNvPicPr>
          <p:nvPr/>
        </p:nvPicPr>
        <p:blipFill>
          <a:blip r:embed="rId2"/>
          <a:stretch>
            <a:fillRect/>
          </a:stretch>
        </p:blipFill>
        <p:spPr>
          <a:xfrm>
            <a:off x="11049000" y="2788920"/>
            <a:ext cx="365760" cy="365760"/>
          </a:xfrm>
          <a:prstGeom prst="rect">
            <a:avLst/>
          </a:prstGeom>
        </p:spPr>
      </p:pic>
      <p:sp>
        <p:nvSpPr>
          <p:cNvPr id="10" name="Text 6"/>
          <p:cNvSpPr/>
          <p:nvPr/>
        </p:nvSpPr>
        <p:spPr>
          <a:xfrm>
            <a:off x="9128760" y="2651760"/>
            <a:ext cx="1645920" cy="777240"/>
          </a:xfrm>
          <a:prstGeom prst="rect">
            <a:avLst/>
          </a:prstGeom>
          <a:noFill/>
          <a:ln/>
        </p:spPr>
        <p:txBody>
          <a:bodyPr wrap="square" rtlCol="0" anchor="ctr"/>
          <a:lstStyle/>
          <a:p>
            <a:pPr rtl="1" algn="l" indent="0" marL="0">
              <a:buNone/>
            </a:pPr>
            <a:r>
              <a:rPr lang="en-US" sz="1500" b="1" dirty="0">
                <a:solidFill>
                  <a:srgbClr val="1B3A5C"/>
                </a:solidFill>
                <a:latin typeface="Arial" pitchFamily="34" charset="0"/>
                <a:ea typeface="Arial" pitchFamily="34" charset="-122"/>
                <a:cs typeface="Arial" pitchFamily="34" charset="-120"/>
              </a:rPr>
              <a:t>مكانية</a:t>
            </a:r>
            <a:endParaRPr lang="en-US" sz="1500" dirty="0"/>
          </a:p>
        </p:txBody>
      </p:sp>
      <p:sp>
        <p:nvSpPr>
          <p:cNvPr id="11" name="Text 7"/>
          <p:cNvSpPr/>
          <p:nvPr/>
        </p:nvSpPr>
        <p:spPr>
          <a:xfrm>
            <a:off x="899160" y="2651760"/>
            <a:ext cx="8138160" cy="777240"/>
          </a:xfrm>
          <a:prstGeom prst="rect">
            <a:avLst/>
          </a:prstGeom>
          <a:noFill/>
          <a:ln/>
        </p:spPr>
        <p:txBody>
          <a:bodyPr wrap="square" rtlCol="0" anchor="ctr"/>
          <a:lstStyle/>
          <a:p>
            <a:pPr rtl="1" algn="l" indent="0" marL="0">
              <a:buNone/>
            </a:pPr>
            <a:r>
              <a:rPr lang="en-US" sz="1400" dirty="0">
                <a:solidFill>
                  <a:srgbClr val="1D2939"/>
                </a:solidFill>
                <a:latin typeface="Arial" pitchFamily="34" charset="0"/>
                <a:ea typeface="Arial" pitchFamily="34" charset="-122"/>
                <a:cs typeface="Arial" pitchFamily="34" charset="-120"/>
              </a:rPr>
              <a:t>نطاق مدينة دنقلا الإداري والأحياء التابعة لها</a:t>
            </a:r>
            <a:endParaRPr lang="en-US" sz="1400" dirty="0"/>
          </a:p>
        </p:txBody>
      </p:sp>
      <p:sp>
        <p:nvSpPr>
          <p:cNvPr id="12" name="Shape 8"/>
          <p:cNvSpPr/>
          <p:nvPr/>
        </p:nvSpPr>
        <p:spPr>
          <a:xfrm>
            <a:off x="10911840" y="3611880"/>
            <a:ext cx="640080" cy="777240"/>
          </a:xfrm>
          <a:prstGeom prst="roundRect">
            <a:avLst>
              <a:gd name="adj" fmla="val 14286"/>
            </a:avLst>
          </a:prstGeom>
          <a:solidFill>
            <a:srgbClr val="F4F5F7"/>
          </a:solidFill>
          <a:ln/>
        </p:spPr>
      </p:sp>
      <p:pic>
        <p:nvPicPr>
          <p:cNvPr id="13" name="Image 2" descr="/home/claude/presentation/icons/clipboard_1B3A5C.png">    </p:cNvPr>
          <p:cNvPicPr>
            <a:picLocks noChangeAspect="1"/>
          </p:cNvPicPr>
          <p:nvPr/>
        </p:nvPicPr>
        <p:blipFill>
          <a:blip r:embed="rId3"/>
          <a:stretch>
            <a:fillRect/>
          </a:stretch>
        </p:blipFill>
        <p:spPr>
          <a:xfrm>
            <a:off x="11049000" y="3749040"/>
            <a:ext cx="365760" cy="365760"/>
          </a:xfrm>
          <a:prstGeom prst="rect">
            <a:avLst/>
          </a:prstGeom>
        </p:spPr>
      </p:pic>
      <p:sp>
        <p:nvSpPr>
          <p:cNvPr id="14" name="Text 9"/>
          <p:cNvSpPr/>
          <p:nvPr/>
        </p:nvSpPr>
        <p:spPr>
          <a:xfrm>
            <a:off x="9128760" y="3611880"/>
            <a:ext cx="1645920" cy="777240"/>
          </a:xfrm>
          <a:prstGeom prst="rect">
            <a:avLst/>
          </a:prstGeom>
          <a:noFill/>
          <a:ln/>
        </p:spPr>
        <p:txBody>
          <a:bodyPr wrap="square" rtlCol="0" anchor="ctr"/>
          <a:lstStyle/>
          <a:p>
            <a:pPr rtl="1" algn="l" indent="0" marL="0">
              <a:buNone/>
            </a:pPr>
            <a:r>
              <a:rPr lang="en-US" sz="1500" b="1" dirty="0">
                <a:solidFill>
                  <a:srgbClr val="1B3A5C"/>
                </a:solidFill>
                <a:latin typeface="Arial" pitchFamily="34" charset="0"/>
                <a:ea typeface="Arial" pitchFamily="34" charset="-122"/>
                <a:cs typeface="Arial" pitchFamily="34" charset="-120"/>
              </a:rPr>
              <a:t>زمانية</a:t>
            </a:r>
            <a:endParaRPr lang="en-US" sz="1500" dirty="0"/>
          </a:p>
        </p:txBody>
      </p:sp>
      <p:sp>
        <p:nvSpPr>
          <p:cNvPr id="15" name="Text 10"/>
          <p:cNvSpPr/>
          <p:nvPr/>
        </p:nvSpPr>
        <p:spPr>
          <a:xfrm>
            <a:off x="899160" y="3611880"/>
            <a:ext cx="8138160" cy="777240"/>
          </a:xfrm>
          <a:prstGeom prst="rect">
            <a:avLst/>
          </a:prstGeom>
          <a:noFill/>
          <a:ln/>
        </p:spPr>
        <p:txBody>
          <a:bodyPr wrap="square" rtlCol="0" anchor="ctr"/>
          <a:lstStyle/>
          <a:p>
            <a:pPr rtl="1" algn="l" indent="0" marL="0">
              <a:buNone/>
            </a:pPr>
            <a:r>
              <a:rPr lang="en-US" sz="1400" dirty="0">
                <a:solidFill>
                  <a:srgbClr val="1D2939"/>
                </a:solidFill>
                <a:latin typeface="Arial" pitchFamily="34" charset="0"/>
                <a:ea typeface="Arial" pitchFamily="34" charset="-122"/>
                <a:cs typeface="Arial" pitchFamily="34" charset="-120"/>
              </a:rPr>
              <a:t>العام الأكاديمي 2026م</a:t>
            </a:r>
            <a:endParaRPr lang="en-US" sz="1400" dirty="0"/>
          </a:p>
        </p:txBody>
      </p:sp>
      <p:sp>
        <p:nvSpPr>
          <p:cNvPr id="16" name="Shape 11"/>
          <p:cNvSpPr/>
          <p:nvPr/>
        </p:nvSpPr>
        <p:spPr>
          <a:xfrm>
            <a:off x="10911840" y="4572000"/>
            <a:ext cx="640080" cy="777240"/>
          </a:xfrm>
          <a:prstGeom prst="roundRect">
            <a:avLst>
              <a:gd name="adj" fmla="val 14286"/>
            </a:avLst>
          </a:prstGeom>
          <a:solidFill>
            <a:srgbClr val="F4F5F7"/>
          </a:solidFill>
          <a:ln/>
        </p:spPr>
      </p:sp>
      <p:pic>
        <p:nvPicPr>
          <p:cNvPr id="17" name="Image 3" descr="/home/claude/presentation/icons/cogs_1B3A5C.png">    </p:cNvPr>
          <p:cNvPicPr>
            <a:picLocks noChangeAspect="1"/>
          </p:cNvPicPr>
          <p:nvPr/>
        </p:nvPicPr>
        <p:blipFill>
          <a:blip r:embed="rId4"/>
          <a:stretch>
            <a:fillRect/>
          </a:stretch>
        </p:blipFill>
        <p:spPr>
          <a:xfrm>
            <a:off x="11049000" y="4709160"/>
            <a:ext cx="365760" cy="365760"/>
          </a:xfrm>
          <a:prstGeom prst="rect">
            <a:avLst/>
          </a:prstGeom>
        </p:spPr>
      </p:pic>
      <p:sp>
        <p:nvSpPr>
          <p:cNvPr id="18" name="Text 12"/>
          <p:cNvSpPr/>
          <p:nvPr/>
        </p:nvSpPr>
        <p:spPr>
          <a:xfrm>
            <a:off x="9128760" y="4572000"/>
            <a:ext cx="1645920" cy="777240"/>
          </a:xfrm>
          <a:prstGeom prst="rect">
            <a:avLst/>
          </a:prstGeom>
          <a:noFill/>
          <a:ln/>
        </p:spPr>
        <p:txBody>
          <a:bodyPr wrap="square" rtlCol="0" anchor="ctr"/>
          <a:lstStyle/>
          <a:p>
            <a:pPr rtl="1" algn="l" indent="0" marL="0">
              <a:buNone/>
            </a:pPr>
            <a:r>
              <a:rPr lang="en-US" sz="1500" b="1" dirty="0">
                <a:solidFill>
                  <a:srgbClr val="1B3A5C"/>
                </a:solidFill>
                <a:latin typeface="Arial" pitchFamily="34" charset="0"/>
                <a:ea typeface="Arial" pitchFamily="34" charset="-122"/>
                <a:cs typeface="Arial" pitchFamily="34" charset="-120"/>
              </a:rPr>
              <a:t>تقنية</a:t>
            </a:r>
            <a:endParaRPr lang="en-US" sz="1500" dirty="0"/>
          </a:p>
        </p:txBody>
      </p:sp>
      <p:sp>
        <p:nvSpPr>
          <p:cNvPr id="19" name="Text 13"/>
          <p:cNvSpPr/>
          <p:nvPr/>
        </p:nvSpPr>
        <p:spPr>
          <a:xfrm>
            <a:off x="899160" y="4572000"/>
            <a:ext cx="8138160" cy="777240"/>
          </a:xfrm>
          <a:prstGeom prst="rect">
            <a:avLst/>
          </a:prstGeom>
          <a:noFill/>
          <a:ln/>
        </p:spPr>
        <p:txBody>
          <a:bodyPr wrap="square" rtlCol="0" anchor="ctr"/>
          <a:lstStyle/>
          <a:p>
            <a:pPr rtl="1" algn="l" indent="0" marL="0">
              <a:buNone/>
            </a:pPr>
            <a:r>
              <a:rPr lang="en-US" sz="1400" dirty="0">
                <a:solidFill>
                  <a:srgbClr val="1D2939"/>
                </a:solidFill>
                <a:latin typeface="Arial" pitchFamily="34" charset="0"/>
                <a:ea typeface="Arial" pitchFamily="34" charset="-122"/>
                <a:cs typeface="Arial" pitchFamily="34" charset="-120"/>
              </a:rPr>
              <a:t>Android وFlutter، SQLite كمصدر أساسي، وGitHub كوسيط مزامنة خفيف (وليس خادماً تقليدياً)</a:t>
            </a:r>
            <a:endParaRPr lang="en-US" sz="1400" dirty="0"/>
          </a:p>
        </p:txBody>
      </p:sp>
      <p:sp>
        <p:nvSpPr>
          <p:cNvPr id="20"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1"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منهجية البحث وأدوات جمع البيانات</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Methodology</a:t>
            </a:r>
            <a:endParaRPr lang="en-US" sz="1400" dirty="0"/>
          </a:p>
        </p:txBody>
      </p:sp>
      <p:sp>
        <p:nvSpPr>
          <p:cNvPr id="4" name="Text 2"/>
          <p:cNvSpPr/>
          <p:nvPr/>
        </p:nvSpPr>
        <p:spPr>
          <a:xfrm>
            <a:off x="670560" y="1600200"/>
            <a:ext cx="10881360" cy="548640"/>
          </a:xfrm>
          <a:prstGeom prst="rect">
            <a:avLst/>
          </a:prstGeom>
          <a:noFill/>
          <a:ln/>
        </p:spPr>
        <p:txBody>
          <a:bodyPr wrap="square" rtlCol="0" anchor="ctr"/>
          <a:lstStyle/>
          <a:p>
            <a:pPr rtl="1" algn="ctr" indent="0" marL="0">
              <a:buNone/>
            </a:pPr>
            <a:r>
              <a:rPr lang="en-US" sz="1500" i="1" dirty="0">
                <a:solidFill>
                  <a:srgbClr val="64748B"/>
                </a:solidFill>
                <a:latin typeface="Arial" pitchFamily="34" charset="0"/>
                <a:ea typeface="Arial" pitchFamily="34" charset="-122"/>
                <a:cs typeface="Arial" pitchFamily="34" charset="-120"/>
              </a:rPr>
              <a:t>اعتمد البحث المنهج الوصفي التطبيقي: وصف وتحليل الواقع الصحي، وتصميم حل برمجي عملي لمعالجته</a:t>
            </a:r>
            <a:endParaRPr lang="en-US" sz="1500" dirty="0"/>
          </a:p>
        </p:txBody>
      </p:sp>
      <p:sp>
        <p:nvSpPr>
          <p:cNvPr id="5" name="Shape 3"/>
          <p:cNvSpPr/>
          <p:nvPr/>
        </p:nvSpPr>
        <p:spPr>
          <a:xfrm>
            <a:off x="7985760" y="2468880"/>
            <a:ext cx="3429000" cy="3017520"/>
          </a:xfrm>
          <a:prstGeom prst="roundRect">
            <a:avLst>
              <a:gd name="adj" fmla="val 3636"/>
            </a:avLst>
          </a:prstGeom>
          <a:solidFill>
            <a:srgbClr val="1B3A5C"/>
          </a:solidFill>
          <a:ln/>
        </p:spPr>
      </p:sp>
      <p:pic>
        <p:nvPicPr>
          <p:cNvPr id="6" name="Image 0" descr="/home/claude/presentation/icons/marker_FFFFFF.png">    </p:cNvPr>
          <p:cNvPicPr>
            <a:picLocks noChangeAspect="1"/>
          </p:cNvPicPr>
          <p:nvPr/>
        </p:nvPicPr>
        <p:blipFill>
          <a:blip r:embed="rId1"/>
          <a:stretch>
            <a:fillRect/>
          </a:stretch>
        </p:blipFill>
        <p:spPr>
          <a:xfrm>
            <a:off x="9380220" y="2697480"/>
            <a:ext cx="640080" cy="640080"/>
          </a:xfrm>
          <a:prstGeom prst="rect">
            <a:avLst/>
          </a:prstGeom>
        </p:spPr>
      </p:pic>
      <p:sp>
        <p:nvSpPr>
          <p:cNvPr id="7" name="Text 4"/>
          <p:cNvSpPr/>
          <p:nvPr/>
        </p:nvSpPr>
        <p:spPr>
          <a:xfrm>
            <a:off x="8168640" y="3429000"/>
            <a:ext cx="3063240" cy="457200"/>
          </a:xfrm>
          <a:prstGeom prst="rect">
            <a:avLst/>
          </a:prstGeom>
          <a:noFill/>
          <a:ln/>
        </p:spPr>
        <p:txBody>
          <a:bodyPr wrap="square" rtlCol="0" anchor="ctr"/>
          <a:lstStyle/>
          <a:p>
            <a:pPr rtl="1" algn="ctr" indent="0" marL="0">
              <a:buNone/>
            </a:pPr>
            <a:r>
              <a:rPr lang="en-US" sz="1550" b="1" dirty="0">
                <a:solidFill>
                  <a:srgbClr val="FFFFFF"/>
                </a:solidFill>
                <a:latin typeface="Arial" pitchFamily="34" charset="0"/>
                <a:ea typeface="Arial" pitchFamily="34" charset="-122"/>
                <a:cs typeface="Arial" pitchFamily="34" charset="-120"/>
              </a:rPr>
              <a:t>الزيارات الميدانية</a:t>
            </a:r>
            <a:endParaRPr lang="en-US" sz="1550" dirty="0"/>
          </a:p>
        </p:txBody>
      </p:sp>
      <p:sp>
        <p:nvSpPr>
          <p:cNvPr id="8" name="Text 5"/>
          <p:cNvSpPr/>
          <p:nvPr/>
        </p:nvSpPr>
        <p:spPr>
          <a:xfrm>
            <a:off x="8214360" y="3931920"/>
            <a:ext cx="2971800" cy="137160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جولات منظمة لعدد من المرافق الصحية لرصد مواقعها وبياناتها</a:t>
            </a:r>
            <a:endParaRPr lang="en-US" sz="1250" dirty="0"/>
          </a:p>
        </p:txBody>
      </p:sp>
      <p:sp>
        <p:nvSpPr>
          <p:cNvPr id="9" name="Shape 6"/>
          <p:cNvSpPr/>
          <p:nvPr/>
        </p:nvSpPr>
        <p:spPr>
          <a:xfrm>
            <a:off x="4236720" y="2468880"/>
            <a:ext cx="3429000" cy="3017520"/>
          </a:xfrm>
          <a:prstGeom prst="roundRect">
            <a:avLst>
              <a:gd name="adj" fmla="val 3636"/>
            </a:avLst>
          </a:prstGeom>
          <a:solidFill>
            <a:srgbClr val="1B3A5C"/>
          </a:solidFill>
          <a:ln/>
        </p:spPr>
      </p:sp>
      <p:pic>
        <p:nvPicPr>
          <p:cNvPr id="10" name="Image 1" descr="/home/claude/presentation/icons/users_FFFFFF.png">    </p:cNvPr>
          <p:cNvPicPr>
            <a:picLocks noChangeAspect="1"/>
          </p:cNvPicPr>
          <p:nvPr/>
        </p:nvPicPr>
        <p:blipFill>
          <a:blip r:embed="rId2"/>
          <a:stretch>
            <a:fillRect/>
          </a:stretch>
        </p:blipFill>
        <p:spPr>
          <a:xfrm>
            <a:off x="5631180" y="2697480"/>
            <a:ext cx="640080" cy="640080"/>
          </a:xfrm>
          <a:prstGeom prst="rect">
            <a:avLst/>
          </a:prstGeom>
        </p:spPr>
      </p:pic>
      <p:sp>
        <p:nvSpPr>
          <p:cNvPr id="11" name="Text 7"/>
          <p:cNvSpPr/>
          <p:nvPr/>
        </p:nvSpPr>
        <p:spPr>
          <a:xfrm>
            <a:off x="4419600" y="3429000"/>
            <a:ext cx="3063240" cy="457200"/>
          </a:xfrm>
          <a:prstGeom prst="rect">
            <a:avLst/>
          </a:prstGeom>
          <a:noFill/>
          <a:ln/>
        </p:spPr>
        <p:txBody>
          <a:bodyPr wrap="square" rtlCol="0" anchor="ctr"/>
          <a:lstStyle/>
          <a:p>
            <a:pPr rtl="1" algn="ctr" indent="0" marL="0">
              <a:buNone/>
            </a:pPr>
            <a:r>
              <a:rPr lang="en-US" sz="1550" b="1" dirty="0">
                <a:solidFill>
                  <a:srgbClr val="FFFFFF"/>
                </a:solidFill>
                <a:latin typeface="Arial" pitchFamily="34" charset="0"/>
                <a:ea typeface="Arial" pitchFamily="34" charset="-122"/>
                <a:cs typeface="Arial" pitchFamily="34" charset="-120"/>
              </a:rPr>
              <a:t>المقابلات القصيرة</a:t>
            </a:r>
            <a:endParaRPr lang="en-US" sz="1550" dirty="0"/>
          </a:p>
        </p:txBody>
      </p:sp>
      <p:sp>
        <p:nvSpPr>
          <p:cNvPr id="12" name="Text 8"/>
          <p:cNvSpPr/>
          <p:nvPr/>
        </p:nvSpPr>
        <p:spPr>
          <a:xfrm>
            <a:off x="4465320" y="3931920"/>
            <a:ext cx="2971800" cy="137160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مقابلات موجزة مع العاملين لجمع بيانات دقيقة عن الخدمات والاتصال</a:t>
            </a:r>
            <a:endParaRPr lang="en-US" sz="1250" dirty="0"/>
          </a:p>
        </p:txBody>
      </p:sp>
      <p:sp>
        <p:nvSpPr>
          <p:cNvPr id="13" name="Shape 9"/>
          <p:cNvSpPr/>
          <p:nvPr/>
        </p:nvSpPr>
        <p:spPr>
          <a:xfrm>
            <a:off x="487680" y="2468880"/>
            <a:ext cx="3429000" cy="3017520"/>
          </a:xfrm>
          <a:prstGeom prst="roundRect">
            <a:avLst>
              <a:gd name="adj" fmla="val 3636"/>
            </a:avLst>
          </a:prstGeom>
          <a:solidFill>
            <a:srgbClr val="1B3A5C"/>
          </a:solidFill>
          <a:ln/>
        </p:spPr>
      </p:sp>
      <p:pic>
        <p:nvPicPr>
          <p:cNvPr id="14" name="Image 2" descr="/home/claude/presentation/icons/mobile_FFFFFF.png">    </p:cNvPr>
          <p:cNvPicPr>
            <a:picLocks noChangeAspect="1"/>
          </p:cNvPicPr>
          <p:nvPr/>
        </p:nvPicPr>
        <p:blipFill>
          <a:blip r:embed="rId3"/>
          <a:stretch>
            <a:fillRect/>
          </a:stretch>
        </p:blipFill>
        <p:spPr>
          <a:xfrm>
            <a:off x="1882140" y="2697480"/>
            <a:ext cx="640080" cy="640080"/>
          </a:xfrm>
          <a:prstGeom prst="rect">
            <a:avLst/>
          </a:prstGeom>
        </p:spPr>
      </p:pic>
      <p:sp>
        <p:nvSpPr>
          <p:cNvPr id="15" name="Text 10"/>
          <p:cNvSpPr/>
          <p:nvPr/>
        </p:nvSpPr>
        <p:spPr>
          <a:xfrm>
            <a:off x="670560" y="3429000"/>
            <a:ext cx="3063240" cy="457200"/>
          </a:xfrm>
          <a:prstGeom prst="rect">
            <a:avLst/>
          </a:prstGeom>
          <a:noFill/>
          <a:ln/>
        </p:spPr>
        <p:txBody>
          <a:bodyPr wrap="square" rtlCol="0" anchor="ctr"/>
          <a:lstStyle/>
          <a:p>
            <a:pPr rtl="1" algn="ctr" indent="0" marL="0">
              <a:buNone/>
            </a:pPr>
            <a:r>
              <a:rPr lang="en-US" sz="1550" b="1" dirty="0">
                <a:solidFill>
                  <a:srgbClr val="FFFFFF"/>
                </a:solidFill>
                <a:latin typeface="Arial" pitchFamily="34" charset="0"/>
                <a:ea typeface="Arial" pitchFamily="34" charset="-122"/>
                <a:cs typeface="Arial" pitchFamily="34" charset="-120"/>
              </a:rPr>
              <a:t>التوثيق البصري</a:t>
            </a:r>
            <a:endParaRPr lang="en-US" sz="1550" dirty="0"/>
          </a:p>
        </p:txBody>
      </p:sp>
      <p:sp>
        <p:nvSpPr>
          <p:cNvPr id="16" name="Text 11"/>
          <p:cNvSpPr/>
          <p:nvPr/>
        </p:nvSpPr>
        <p:spPr>
          <a:xfrm>
            <a:off x="716280" y="3931920"/>
            <a:ext cx="2971800" cy="1371600"/>
          </a:xfrm>
          <a:prstGeom prst="rect">
            <a:avLst/>
          </a:prstGeom>
          <a:noFill/>
          <a:ln/>
        </p:spPr>
        <p:txBody>
          <a:bodyPr wrap="square" rtlCol="0" anchor="t"/>
          <a:lstStyle/>
          <a:p>
            <a:pPr rtl="1" algn="ctr" indent="0" marL="0">
              <a:buNone/>
            </a:pPr>
            <a:r>
              <a:rPr lang="en-US" sz="1250" dirty="0">
                <a:solidFill>
                  <a:srgbClr val="D7E1EA"/>
                </a:solidFill>
                <a:latin typeface="Arial" pitchFamily="34" charset="0"/>
                <a:ea typeface="Arial" pitchFamily="34" charset="-122"/>
                <a:cs typeface="Arial" pitchFamily="34" charset="-120"/>
              </a:rPr>
              <a:t>التقاط صور خارجية حقيقية للمرافق لاستخدامها داخل التطبيق</a:t>
            </a:r>
            <a:endParaRPr lang="en-US" sz="1250" dirty="0"/>
          </a:p>
        </p:txBody>
      </p:sp>
      <p:sp>
        <p:nvSpPr>
          <p:cNvPr id="17" name="Text 12"/>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8" name="Text 13"/>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بيئة التطوير والأدوات</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Development Environment</a:t>
            </a:r>
            <a:endParaRPr lang="en-US" sz="1400" dirty="0"/>
          </a:p>
        </p:txBody>
      </p:sp>
      <p:sp>
        <p:nvSpPr>
          <p:cNvPr id="4" name="Shape 2"/>
          <p:cNvSpPr/>
          <p:nvPr/>
        </p:nvSpPr>
        <p:spPr>
          <a:xfrm>
            <a:off x="8031480" y="1691640"/>
            <a:ext cx="3383280" cy="1371600"/>
          </a:xfrm>
          <a:prstGeom prst="roundRect">
            <a:avLst>
              <a:gd name="adj" fmla="val 6667"/>
            </a:avLst>
          </a:prstGeom>
          <a:solidFill>
            <a:srgbClr val="F4F5F7"/>
          </a:solidFill>
          <a:ln w="12700">
            <a:solidFill>
              <a:srgbClr val="E7ECF2"/>
            </a:solidFill>
            <a:prstDash val="solid"/>
          </a:ln>
        </p:spPr>
      </p:sp>
      <p:pic>
        <p:nvPicPr>
          <p:cNvPr id="5" name="Image 0" descr="/home/claude/presentation/icons/mobile_1B3A5C.png">    </p:cNvPr>
          <p:cNvPicPr>
            <a:picLocks noChangeAspect="1"/>
          </p:cNvPicPr>
          <p:nvPr/>
        </p:nvPicPr>
        <p:blipFill>
          <a:blip r:embed="rId1"/>
          <a:stretch>
            <a:fillRect/>
          </a:stretch>
        </p:blipFill>
        <p:spPr>
          <a:xfrm>
            <a:off x="10546080" y="2057400"/>
            <a:ext cx="640080" cy="640080"/>
          </a:xfrm>
          <a:prstGeom prst="rect">
            <a:avLst/>
          </a:prstGeom>
        </p:spPr>
      </p:pic>
      <p:sp>
        <p:nvSpPr>
          <p:cNvPr id="6" name="Text 3"/>
          <p:cNvSpPr/>
          <p:nvPr/>
        </p:nvSpPr>
        <p:spPr>
          <a:xfrm>
            <a:off x="8214360" y="169164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Flutter / Dart</a:t>
            </a:r>
            <a:endParaRPr lang="en-US" sz="1450" dirty="0"/>
          </a:p>
        </p:txBody>
      </p:sp>
      <p:sp>
        <p:nvSpPr>
          <p:cNvPr id="7" name="Shape 4"/>
          <p:cNvSpPr/>
          <p:nvPr/>
        </p:nvSpPr>
        <p:spPr>
          <a:xfrm>
            <a:off x="4328160" y="1691640"/>
            <a:ext cx="3383280" cy="1371600"/>
          </a:xfrm>
          <a:prstGeom prst="roundRect">
            <a:avLst>
              <a:gd name="adj" fmla="val 6667"/>
            </a:avLst>
          </a:prstGeom>
          <a:solidFill>
            <a:srgbClr val="F4F5F7"/>
          </a:solidFill>
          <a:ln w="12700">
            <a:solidFill>
              <a:srgbClr val="E7ECF2"/>
            </a:solidFill>
            <a:prstDash val="solid"/>
          </a:ln>
        </p:spPr>
      </p:sp>
      <p:pic>
        <p:nvPicPr>
          <p:cNvPr id="8" name="Image 1" descr="/home/claude/presentation/icons/database_1B3A5C.png">    </p:cNvPr>
          <p:cNvPicPr>
            <a:picLocks noChangeAspect="1"/>
          </p:cNvPicPr>
          <p:nvPr/>
        </p:nvPicPr>
        <p:blipFill>
          <a:blip r:embed="rId2"/>
          <a:stretch>
            <a:fillRect/>
          </a:stretch>
        </p:blipFill>
        <p:spPr>
          <a:xfrm>
            <a:off x="6842760" y="2057400"/>
            <a:ext cx="640080" cy="640080"/>
          </a:xfrm>
          <a:prstGeom prst="rect">
            <a:avLst/>
          </a:prstGeom>
        </p:spPr>
      </p:pic>
      <p:sp>
        <p:nvSpPr>
          <p:cNvPr id="9" name="Text 5"/>
          <p:cNvSpPr/>
          <p:nvPr/>
        </p:nvSpPr>
        <p:spPr>
          <a:xfrm>
            <a:off x="4511040" y="169164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SQLite</a:t>
            </a:r>
            <a:endParaRPr lang="en-US" sz="1450" dirty="0"/>
          </a:p>
        </p:txBody>
      </p:sp>
      <p:sp>
        <p:nvSpPr>
          <p:cNvPr id="10" name="Shape 6"/>
          <p:cNvSpPr/>
          <p:nvPr/>
        </p:nvSpPr>
        <p:spPr>
          <a:xfrm>
            <a:off x="624840" y="1691640"/>
            <a:ext cx="3383280" cy="1371600"/>
          </a:xfrm>
          <a:prstGeom prst="roundRect">
            <a:avLst>
              <a:gd name="adj" fmla="val 6667"/>
            </a:avLst>
          </a:prstGeom>
          <a:solidFill>
            <a:srgbClr val="F4F5F7"/>
          </a:solidFill>
          <a:ln w="12700">
            <a:solidFill>
              <a:srgbClr val="E7ECF2"/>
            </a:solidFill>
            <a:prstDash val="solid"/>
          </a:ln>
        </p:spPr>
      </p:sp>
      <p:pic>
        <p:nvPicPr>
          <p:cNvPr id="11" name="Image 2" descr="/home/claude/presentation/icons/github_1B3A5C.png">    </p:cNvPr>
          <p:cNvPicPr>
            <a:picLocks noChangeAspect="1"/>
          </p:cNvPicPr>
          <p:nvPr/>
        </p:nvPicPr>
        <p:blipFill>
          <a:blip r:embed="rId3"/>
          <a:stretch>
            <a:fillRect/>
          </a:stretch>
        </p:blipFill>
        <p:spPr>
          <a:xfrm>
            <a:off x="3139440" y="2057400"/>
            <a:ext cx="640080" cy="640080"/>
          </a:xfrm>
          <a:prstGeom prst="rect">
            <a:avLst/>
          </a:prstGeom>
        </p:spPr>
      </p:pic>
      <p:sp>
        <p:nvSpPr>
          <p:cNvPr id="12" name="Text 7"/>
          <p:cNvSpPr/>
          <p:nvPr/>
        </p:nvSpPr>
        <p:spPr>
          <a:xfrm>
            <a:off x="807720" y="169164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Git &amp; GitHub</a:t>
            </a:r>
            <a:endParaRPr lang="en-US" sz="1450" dirty="0"/>
          </a:p>
        </p:txBody>
      </p:sp>
      <p:sp>
        <p:nvSpPr>
          <p:cNvPr id="13" name="Shape 8"/>
          <p:cNvSpPr/>
          <p:nvPr/>
        </p:nvSpPr>
        <p:spPr>
          <a:xfrm>
            <a:off x="8031480" y="3383280"/>
            <a:ext cx="3383280" cy="1371600"/>
          </a:xfrm>
          <a:prstGeom prst="roundRect">
            <a:avLst>
              <a:gd name="adj" fmla="val 6667"/>
            </a:avLst>
          </a:prstGeom>
          <a:solidFill>
            <a:srgbClr val="F4F5F7"/>
          </a:solidFill>
          <a:ln w="12700">
            <a:solidFill>
              <a:srgbClr val="E7ECF2"/>
            </a:solidFill>
            <a:prstDash val="solid"/>
          </a:ln>
        </p:spPr>
      </p:sp>
      <p:pic>
        <p:nvPicPr>
          <p:cNvPr id="14" name="Image 3" descr="/home/claude/presentation/icons/cloud_1B3A5C.png">    </p:cNvPr>
          <p:cNvPicPr>
            <a:picLocks noChangeAspect="1"/>
          </p:cNvPicPr>
          <p:nvPr/>
        </p:nvPicPr>
        <p:blipFill>
          <a:blip r:embed="rId4"/>
          <a:stretch>
            <a:fillRect/>
          </a:stretch>
        </p:blipFill>
        <p:spPr>
          <a:xfrm>
            <a:off x="10546080" y="3749040"/>
            <a:ext cx="640080" cy="640080"/>
          </a:xfrm>
          <a:prstGeom prst="rect">
            <a:avLst/>
          </a:prstGeom>
        </p:spPr>
      </p:pic>
      <p:sp>
        <p:nvSpPr>
          <p:cNvPr id="15" name="Text 9"/>
          <p:cNvSpPr/>
          <p:nvPr/>
        </p:nvSpPr>
        <p:spPr>
          <a:xfrm>
            <a:off x="8214360" y="338328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Google Sheets + Apps Script</a:t>
            </a:r>
            <a:endParaRPr lang="en-US" sz="1450" dirty="0"/>
          </a:p>
        </p:txBody>
      </p:sp>
      <p:sp>
        <p:nvSpPr>
          <p:cNvPr id="16" name="Shape 10"/>
          <p:cNvSpPr/>
          <p:nvPr/>
        </p:nvSpPr>
        <p:spPr>
          <a:xfrm>
            <a:off x="4328160" y="3383280"/>
            <a:ext cx="3383280" cy="1371600"/>
          </a:xfrm>
          <a:prstGeom prst="roundRect">
            <a:avLst>
              <a:gd name="adj" fmla="val 6667"/>
            </a:avLst>
          </a:prstGeom>
          <a:solidFill>
            <a:srgbClr val="F4F5F7"/>
          </a:solidFill>
          <a:ln w="12700">
            <a:solidFill>
              <a:srgbClr val="E7ECF2"/>
            </a:solidFill>
            <a:prstDash val="solid"/>
          </a:ln>
        </p:spPr>
      </p:sp>
      <p:pic>
        <p:nvPicPr>
          <p:cNvPr id="17" name="Image 4" descr="/home/claude/presentation/icons/route_1B3A5C.png">    </p:cNvPr>
          <p:cNvPicPr>
            <a:picLocks noChangeAspect="1"/>
          </p:cNvPicPr>
          <p:nvPr/>
        </p:nvPicPr>
        <p:blipFill>
          <a:blip r:embed="rId5"/>
          <a:stretch>
            <a:fillRect/>
          </a:stretch>
        </p:blipFill>
        <p:spPr>
          <a:xfrm>
            <a:off x="6842760" y="3749040"/>
            <a:ext cx="640080" cy="640080"/>
          </a:xfrm>
          <a:prstGeom prst="rect">
            <a:avLst/>
          </a:prstGeom>
        </p:spPr>
      </p:pic>
      <p:sp>
        <p:nvSpPr>
          <p:cNvPr id="18" name="Text 11"/>
          <p:cNvSpPr/>
          <p:nvPr/>
        </p:nvSpPr>
        <p:spPr>
          <a:xfrm>
            <a:off x="4511040" y="338328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خرائط جوجل</a:t>
            </a:r>
            <a:endParaRPr lang="en-US" sz="1450" dirty="0"/>
          </a:p>
        </p:txBody>
      </p:sp>
      <p:sp>
        <p:nvSpPr>
          <p:cNvPr id="19" name="Shape 12"/>
          <p:cNvSpPr/>
          <p:nvPr/>
        </p:nvSpPr>
        <p:spPr>
          <a:xfrm>
            <a:off x="624840" y="3383280"/>
            <a:ext cx="3383280" cy="1371600"/>
          </a:xfrm>
          <a:prstGeom prst="roundRect">
            <a:avLst>
              <a:gd name="adj" fmla="val 6667"/>
            </a:avLst>
          </a:prstGeom>
          <a:solidFill>
            <a:srgbClr val="F4F5F7"/>
          </a:solidFill>
          <a:ln w="12700">
            <a:solidFill>
              <a:srgbClr val="E7ECF2"/>
            </a:solidFill>
            <a:prstDash val="solid"/>
          </a:ln>
        </p:spPr>
      </p:sp>
      <p:pic>
        <p:nvPicPr>
          <p:cNvPr id="20" name="Image 5" descr="/home/claude/presentation/icons/cogs_1B3A5C.png">    </p:cNvPr>
          <p:cNvPicPr>
            <a:picLocks noChangeAspect="1"/>
          </p:cNvPicPr>
          <p:nvPr/>
        </p:nvPicPr>
        <p:blipFill>
          <a:blip r:embed="rId6"/>
          <a:stretch>
            <a:fillRect/>
          </a:stretch>
        </p:blipFill>
        <p:spPr>
          <a:xfrm>
            <a:off x="3139440" y="3749040"/>
            <a:ext cx="640080" cy="640080"/>
          </a:xfrm>
          <a:prstGeom prst="rect">
            <a:avLst/>
          </a:prstGeom>
        </p:spPr>
      </p:pic>
      <p:sp>
        <p:nvSpPr>
          <p:cNvPr id="21" name="Text 13"/>
          <p:cNvSpPr/>
          <p:nvPr/>
        </p:nvSpPr>
        <p:spPr>
          <a:xfrm>
            <a:off x="807720" y="3383280"/>
            <a:ext cx="2194560" cy="1371600"/>
          </a:xfrm>
          <a:prstGeom prst="rect">
            <a:avLst/>
          </a:prstGeom>
          <a:noFill/>
          <a:ln/>
        </p:spPr>
        <p:txBody>
          <a:bodyPr wrap="square" rtlCol="0" anchor="ctr"/>
          <a:lstStyle/>
          <a:p>
            <a:pPr rtl="1" algn="l" indent="0" marL="0">
              <a:buNone/>
            </a:pPr>
            <a:r>
              <a:rPr lang="en-US" sz="1450" b="1" dirty="0">
                <a:solidFill>
                  <a:srgbClr val="1D2939"/>
                </a:solidFill>
                <a:latin typeface="Arial" pitchFamily="34" charset="0"/>
                <a:ea typeface="Arial" pitchFamily="34" charset="-122"/>
                <a:cs typeface="Arial" pitchFamily="34" charset="-120"/>
              </a:rPr>
              <a:t>لوحة تحكم ويب (HTML/JS)</a:t>
            </a:r>
            <a:endParaRPr lang="en-US" sz="1450" dirty="0"/>
          </a:p>
        </p:txBody>
      </p:sp>
      <p:sp>
        <p:nvSpPr>
          <p:cNvPr id="22" name="Text 14"/>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3" name="Text 15"/>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الخلفية الجغرافية والصحية لمدينة دنقلا</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Field Study</a:t>
            </a:r>
            <a:endParaRPr lang="en-US" sz="1400" dirty="0"/>
          </a:p>
        </p:txBody>
      </p:sp>
      <p:sp>
        <p:nvSpPr>
          <p:cNvPr id="4" name="Text 2"/>
          <p:cNvSpPr/>
          <p:nvPr/>
        </p:nvSpPr>
        <p:spPr>
          <a:xfrm>
            <a:off x="670560" y="1600200"/>
            <a:ext cx="10881360" cy="502920"/>
          </a:xfrm>
          <a:prstGeom prst="rect">
            <a:avLst/>
          </a:prstGeom>
          <a:noFill/>
          <a:ln/>
        </p:spPr>
        <p:txBody>
          <a:bodyPr wrap="square" rtlCol="0" anchor="ctr"/>
          <a:lstStyle/>
          <a:p>
            <a:pPr rtl="1" algn="ctr" indent="0" marL="0">
              <a:buNone/>
            </a:pPr>
            <a:r>
              <a:rPr lang="en-US" sz="1500" dirty="0">
                <a:solidFill>
                  <a:srgbClr val="64748B"/>
                </a:solidFill>
                <a:latin typeface="Arial" pitchFamily="34" charset="0"/>
                <a:ea typeface="Arial" pitchFamily="34" charset="-122"/>
                <a:cs typeface="Arial" pitchFamily="34" charset="-120"/>
              </a:rPr>
              <a:t>تقع دنقلا على الضفة الشرقية لنهر النيل، وتُعد العاصمة الإدارية والاقتصادية للولاية الشمالية</a:t>
            </a:r>
            <a:endParaRPr lang="en-US" sz="1500" dirty="0"/>
          </a:p>
        </p:txBody>
      </p:sp>
      <p:sp>
        <p:nvSpPr>
          <p:cNvPr id="5" name="Shape 3"/>
          <p:cNvSpPr/>
          <p:nvPr/>
        </p:nvSpPr>
        <p:spPr>
          <a:xfrm>
            <a:off x="8945880" y="2377440"/>
            <a:ext cx="2606040" cy="3200400"/>
          </a:xfrm>
          <a:prstGeom prst="roundRect">
            <a:avLst>
              <a:gd name="adj" fmla="val 4211"/>
            </a:avLst>
          </a:prstGeom>
          <a:solidFill>
            <a:srgbClr val="FFFFFF"/>
          </a:solidFill>
          <a:ln w="12700">
            <a:solidFill>
              <a:srgbClr val="E7ECF2"/>
            </a:solidFill>
            <a:prstDash val="solid"/>
          </a:ln>
          <a:effectLst>
            <a:outerShdw sx="100000" sy="100000" kx="0" ky="0" algn="bl" rotWithShape="0" blurRad="76200" dist="25400" dir="5400000">
              <a:srgbClr val="000000">
                <a:alpha val="10000"/>
              </a:srgbClr>
            </a:outerShdw>
          </a:effectLst>
        </p:spPr>
      </p:sp>
      <p:sp>
        <p:nvSpPr>
          <p:cNvPr id="6" name="Shape 4"/>
          <p:cNvSpPr/>
          <p:nvPr/>
        </p:nvSpPr>
        <p:spPr>
          <a:xfrm>
            <a:off x="9837420" y="2651760"/>
            <a:ext cx="822960" cy="822960"/>
          </a:xfrm>
          <a:prstGeom prst="oval">
            <a:avLst/>
          </a:prstGeom>
          <a:solidFill>
            <a:srgbClr val="5B7A99"/>
          </a:solidFill>
          <a:ln/>
        </p:spPr>
      </p:sp>
      <p:pic>
        <p:nvPicPr>
          <p:cNvPr id="7" name="Image 0" descr="/home/claude/presentation/icons/hospital_FFFFFF.png">    </p:cNvPr>
          <p:cNvPicPr>
            <a:picLocks noChangeAspect="1"/>
          </p:cNvPicPr>
          <p:nvPr/>
        </p:nvPicPr>
        <p:blipFill>
          <a:blip r:embed="rId1"/>
          <a:stretch>
            <a:fillRect/>
          </a:stretch>
        </p:blipFill>
        <p:spPr>
          <a:xfrm>
            <a:off x="9992868" y="2807208"/>
            <a:ext cx="512064" cy="512064"/>
          </a:xfrm>
          <a:prstGeom prst="rect">
            <a:avLst/>
          </a:prstGeom>
        </p:spPr>
      </p:pic>
      <p:sp>
        <p:nvSpPr>
          <p:cNvPr id="8" name="Text 5"/>
          <p:cNvSpPr/>
          <p:nvPr/>
        </p:nvSpPr>
        <p:spPr>
          <a:xfrm>
            <a:off x="9083040" y="3611880"/>
            <a:ext cx="2331720" cy="457200"/>
          </a:xfrm>
          <a:prstGeom prst="rect">
            <a:avLst/>
          </a:prstGeom>
          <a:noFill/>
          <a:ln/>
        </p:spPr>
        <p:txBody>
          <a:bodyPr wrap="square" rtlCol="0" anchor="ctr"/>
          <a:lstStyle/>
          <a:p>
            <a:pPr rtl="1" algn="ctr" indent="0" marL="0">
              <a:buNone/>
            </a:pPr>
            <a:r>
              <a:rPr lang="en-US" sz="1400" b="1" dirty="0">
                <a:solidFill>
                  <a:srgbClr val="1B3A5C"/>
                </a:solidFill>
                <a:latin typeface="Arial" pitchFamily="34" charset="0"/>
                <a:ea typeface="Arial" pitchFamily="34" charset="-122"/>
                <a:cs typeface="Arial" pitchFamily="34" charset="-120"/>
              </a:rPr>
              <a:t>المستشفيات</a:t>
            </a:r>
            <a:endParaRPr lang="en-US" sz="1400" dirty="0"/>
          </a:p>
        </p:txBody>
      </p:sp>
      <p:sp>
        <p:nvSpPr>
          <p:cNvPr id="9" name="Text 6"/>
          <p:cNvSpPr/>
          <p:nvPr/>
        </p:nvSpPr>
        <p:spPr>
          <a:xfrm>
            <a:off x="9128760" y="4114800"/>
            <a:ext cx="2240280" cy="1280160"/>
          </a:xfrm>
          <a:prstGeom prst="rect">
            <a:avLst/>
          </a:prstGeom>
          <a:noFill/>
          <a:ln/>
        </p:spPr>
        <p:txBody>
          <a:bodyPr wrap="square" rtlCol="0" anchor="t"/>
          <a:lstStyle/>
          <a:p>
            <a:pPr rtl="1" algn="ctr" indent="0" marL="0">
              <a:buNone/>
            </a:pPr>
            <a:r>
              <a:rPr lang="en-US" sz="1150" dirty="0">
                <a:solidFill>
                  <a:srgbClr val="64748B"/>
                </a:solidFill>
                <a:latin typeface="Arial" pitchFamily="34" charset="0"/>
                <a:ea typeface="Arial" pitchFamily="34" charset="-122"/>
                <a:cs typeface="Arial" pitchFamily="34" charset="-120"/>
              </a:rPr>
              <a:t>خدمات علاجية وجراحية متعددة التخصصات</a:t>
            </a:r>
            <a:endParaRPr lang="en-US" sz="1150" dirty="0"/>
          </a:p>
        </p:txBody>
      </p:sp>
      <p:sp>
        <p:nvSpPr>
          <p:cNvPr id="10" name="Shape 7"/>
          <p:cNvSpPr/>
          <p:nvPr/>
        </p:nvSpPr>
        <p:spPr>
          <a:xfrm>
            <a:off x="6111240" y="2377440"/>
            <a:ext cx="2606040" cy="3200400"/>
          </a:xfrm>
          <a:prstGeom prst="roundRect">
            <a:avLst>
              <a:gd name="adj" fmla="val 4211"/>
            </a:avLst>
          </a:prstGeom>
          <a:solidFill>
            <a:srgbClr val="FFFFFF"/>
          </a:solidFill>
          <a:ln w="12700">
            <a:solidFill>
              <a:srgbClr val="E7ECF2"/>
            </a:solidFill>
            <a:prstDash val="solid"/>
          </a:ln>
          <a:effectLst>
            <a:outerShdw sx="100000" sy="100000" kx="0" ky="0" algn="bl" rotWithShape="0" blurRad="76200" dist="25400" dir="5400000">
              <a:srgbClr val="000000">
                <a:alpha val="10000"/>
              </a:srgbClr>
            </a:outerShdw>
          </a:effectLst>
        </p:spPr>
      </p:sp>
      <p:sp>
        <p:nvSpPr>
          <p:cNvPr id="11" name="Shape 8"/>
          <p:cNvSpPr/>
          <p:nvPr/>
        </p:nvSpPr>
        <p:spPr>
          <a:xfrm>
            <a:off x="7002780" y="2651760"/>
            <a:ext cx="822960" cy="822960"/>
          </a:xfrm>
          <a:prstGeom prst="oval">
            <a:avLst/>
          </a:prstGeom>
          <a:solidFill>
            <a:srgbClr val="5B7A99"/>
          </a:solidFill>
          <a:ln/>
        </p:spPr>
      </p:sp>
      <p:pic>
        <p:nvPicPr>
          <p:cNvPr id="12" name="Image 1" descr="/home/claude/presentation/icons/clinic_FFFFFF.png">    </p:cNvPr>
          <p:cNvPicPr>
            <a:picLocks noChangeAspect="1"/>
          </p:cNvPicPr>
          <p:nvPr/>
        </p:nvPicPr>
        <p:blipFill>
          <a:blip r:embed="rId2"/>
          <a:stretch>
            <a:fillRect/>
          </a:stretch>
        </p:blipFill>
        <p:spPr>
          <a:xfrm>
            <a:off x="7158228" y="2807208"/>
            <a:ext cx="512064" cy="512064"/>
          </a:xfrm>
          <a:prstGeom prst="rect">
            <a:avLst/>
          </a:prstGeom>
        </p:spPr>
      </p:pic>
      <p:sp>
        <p:nvSpPr>
          <p:cNvPr id="13" name="Text 9"/>
          <p:cNvSpPr/>
          <p:nvPr/>
        </p:nvSpPr>
        <p:spPr>
          <a:xfrm>
            <a:off x="6248400" y="3611880"/>
            <a:ext cx="2331720" cy="457200"/>
          </a:xfrm>
          <a:prstGeom prst="rect">
            <a:avLst/>
          </a:prstGeom>
          <a:noFill/>
          <a:ln/>
        </p:spPr>
        <p:txBody>
          <a:bodyPr wrap="square" rtlCol="0" anchor="ctr"/>
          <a:lstStyle/>
          <a:p>
            <a:pPr rtl="1" algn="ctr" indent="0" marL="0">
              <a:buNone/>
            </a:pPr>
            <a:r>
              <a:rPr lang="en-US" sz="1400" b="1" dirty="0">
                <a:solidFill>
                  <a:srgbClr val="1B3A5C"/>
                </a:solidFill>
                <a:latin typeface="Arial" pitchFamily="34" charset="0"/>
                <a:ea typeface="Arial" pitchFamily="34" charset="-122"/>
                <a:cs typeface="Arial" pitchFamily="34" charset="-120"/>
              </a:rPr>
              <a:t>المراكز والمستوصفات</a:t>
            </a:r>
            <a:endParaRPr lang="en-US" sz="1400" dirty="0"/>
          </a:p>
        </p:txBody>
      </p:sp>
      <p:sp>
        <p:nvSpPr>
          <p:cNvPr id="14" name="Text 10"/>
          <p:cNvSpPr/>
          <p:nvPr/>
        </p:nvSpPr>
        <p:spPr>
          <a:xfrm>
            <a:off x="6294120" y="4114800"/>
            <a:ext cx="2240280" cy="1280160"/>
          </a:xfrm>
          <a:prstGeom prst="rect">
            <a:avLst/>
          </a:prstGeom>
          <a:noFill/>
          <a:ln/>
        </p:spPr>
        <p:txBody>
          <a:bodyPr wrap="square" rtlCol="0" anchor="t"/>
          <a:lstStyle/>
          <a:p>
            <a:pPr rtl="1" algn="ctr" indent="0" marL="0">
              <a:buNone/>
            </a:pPr>
            <a:r>
              <a:rPr lang="en-US" sz="1150" dirty="0">
                <a:solidFill>
                  <a:srgbClr val="64748B"/>
                </a:solidFill>
                <a:latin typeface="Arial" pitchFamily="34" charset="0"/>
                <a:ea typeface="Arial" pitchFamily="34" charset="-122"/>
                <a:cs typeface="Arial" pitchFamily="34" charset="-120"/>
              </a:rPr>
              <a:t>رعاية صحية أولية وعيادات تخصصية</a:t>
            </a:r>
            <a:endParaRPr lang="en-US" sz="1150" dirty="0"/>
          </a:p>
        </p:txBody>
      </p:sp>
      <p:sp>
        <p:nvSpPr>
          <p:cNvPr id="15" name="Shape 11"/>
          <p:cNvSpPr/>
          <p:nvPr/>
        </p:nvSpPr>
        <p:spPr>
          <a:xfrm>
            <a:off x="3276600" y="2377440"/>
            <a:ext cx="2606040" cy="3200400"/>
          </a:xfrm>
          <a:prstGeom prst="roundRect">
            <a:avLst>
              <a:gd name="adj" fmla="val 4211"/>
            </a:avLst>
          </a:prstGeom>
          <a:solidFill>
            <a:srgbClr val="FFFFFF"/>
          </a:solidFill>
          <a:ln w="12700">
            <a:solidFill>
              <a:srgbClr val="E7ECF2"/>
            </a:solidFill>
            <a:prstDash val="solid"/>
          </a:ln>
          <a:effectLst>
            <a:outerShdw sx="100000" sy="100000" kx="0" ky="0" algn="bl" rotWithShape="0" blurRad="76200" dist="25400" dir="5400000">
              <a:srgbClr val="000000">
                <a:alpha val="10000"/>
              </a:srgbClr>
            </a:outerShdw>
          </a:effectLst>
        </p:spPr>
      </p:sp>
      <p:sp>
        <p:nvSpPr>
          <p:cNvPr id="16" name="Shape 12"/>
          <p:cNvSpPr/>
          <p:nvPr/>
        </p:nvSpPr>
        <p:spPr>
          <a:xfrm>
            <a:off x="4168140" y="2651760"/>
            <a:ext cx="822960" cy="822960"/>
          </a:xfrm>
          <a:prstGeom prst="oval">
            <a:avLst/>
          </a:prstGeom>
          <a:solidFill>
            <a:srgbClr val="5B7A99"/>
          </a:solidFill>
          <a:ln/>
        </p:spPr>
      </p:sp>
      <p:pic>
        <p:nvPicPr>
          <p:cNvPr id="17" name="Image 2" descr="/home/claude/presentation/icons/flask_FFFFFF.png">    </p:cNvPr>
          <p:cNvPicPr>
            <a:picLocks noChangeAspect="1"/>
          </p:cNvPicPr>
          <p:nvPr/>
        </p:nvPicPr>
        <p:blipFill>
          <a:blip r:embed="rId3"/>
          <a:stretch>
            <a:fillRect/>
          </a:stretch>
        </p:blipFill>
        <p:spPr>
          <a:xfrm>
            <a:off x="4323588" y="2807208"/>
            <a:ext cx="512064" cy="512064"/>
          </a:xfrm>
          <a:prstGeom prst="rect">
            <a:avLst/>
          </a:prstGeom>
        </p:spPr>
      </p:pic>
      <p:sp>
        <p:nvSpPr>
          <p:cNvPr id="18" name="Text 13"/>
          <p:cNvSpPr/>
          <p:nvPr/>
        </p:nvSpPr>
        <p:spPr>
          <a:xfrm>
            <a:off x="3413760" y="3611880"/>
            <a:ext cx="2331720" cy="457200"/>
          </a:xfrm>
          <a:prstGeom prst="rect">
            <a:avLst/>
          </a:prstGeom>
          <a:noFill/>
          <a:ln/>
        </p:spPr>
        <p:txBody>
          <a:bodyPr wrap="square" rtlCol="0" anchor="ctr"/>
          <a:lstStyle/>
          <a:p>
            <a:pPr rtl="1" algn="ctr" indent="0" marL="0">
              <a:buNone/>
            </a:pPr>
            <a:r>
              <a:rPr lang="en-US" sz="1400" b="1" dirty="0">
                <a:solidFill>
                  <a:srgbClr val="1B3A5C"/>
                </a:solidFill>
                <a:latin typeface="Arial" pitchFamily="34" charset="0"/>
                <a:ea typeface="Arial" pitchFamily="34" charset="-122"/>
                <a:cs typeface="Arial" pitchFamily="34" charset="-120"/>
              </a:rPr>
              <a:t>معامل التحاليل</a:t>
            </a:r>
            <a:endParaRPr lang="en-US" sz="1400" dirty="0"/>
          </a:p>
        </p:txBody>
      </p:sp>
      <p:sp>
        <p:nvSpPr>
          <p:cNvPr id="19" name="Text 14"/>
          <p:cNvSpPr/>
          <p:nvPr/>
        </p:nvSpPr>
        <p:spPr>
          <a:xfrm>
            <a:off x="3459480" y="4114800"/>
            <a:ext cx="2240280" cy="1280160"/>
          </a:xfrm>
          <a:prstGeom prst="rect">
            <a:avLst/>
          </a:prstGeom>
          <a:noFill/>
          <a:ln/>
        </p:spPr>
        <p:txBody>
          <a:bodyPr wrap="square" rtlCol="0" anchor="t"/>
          <a:lstStyle/>
          <a:p>
            <a:pPr rtl="1" algn="ctr" indent="0" marL="0">
              <a:buNone/>
            </a:pPr>
            <a:r>
              <a:rPr lang="en-US" sz="1150" dirty="0">
                <a:solidFill>
                  <a:srgbClr val="64748B"/>
                </a:solidFill>
                <a:latin typeface="Arial" pitchFamily="34" charset="0"/>
                <a:ea typeface="Arial" pitchFamily="34" charset="-122"/>
                <a:cs typeface="Arial" pitchFamily="34" charset="-120"/>
              </a:rPr>
              <a:t>فحوصات مخبرية متنوعة (الدم، السكر، الوظائف الحيوية)</a:t>
            </a:r>
            <a:endParaRPr lang="en-US" sz="1150" dirty="0"/>
          </a:p>
        </p:txBody>
      </p:sp>
      <p:sp>
        <p:nvSpPr>
          <p:cNvPr id="20" name="Shape 15"/>
          <p:cNvSpPr/>
          <p:nvPr/>
        </p:nvSpPr>
        <p:spPr>
          <a:xfrm>
            <a:off x="441960" y="2377440"/>
            <a:ext cx="2606040" cy="3200400"/>
          </a:xfrm>
          <a:prstGeom prst="roundRect">
            <a:avLst>
              <a:gd name="adj" fmla="val 4211"/>
            </a:avLst>
          </a:prstGeom>
          <a:solidFill>
            <a:srgbClr val="FFFFFF"/>
          </a:solidFill>
          <a:ln w="12700">
            <a:solidFill>
              <a:srgbClr val="E7ECF2"/>
            </a:solidFill>
            <a:prstDash val="solid"/>
          </a:ln>
          <a:effectLst>
            <a:outerShdw sx="100000" sy="100000" kx="0" ky="0" algn="bl" rotWithShape="0" blurRad="76200" dist="25400" dir="5400000">
              <a:srgbClr val="000000">
                <a:alpha val="10000"/>
              </a:srgbClr>
            </a:outerShdw>
          </a:effectLst>
        </p:spPr>
      </p:sp>
      <p:sp>
        <p:nvSpPr>
          <p:cNvPr id="21" name="Shape 16"/>
          <p:cNvSpPr/>
          <p:nvPr/>
        </p:nvSpPr>
        <p:spPr>
          <a:xfrm>
            <a:off x="1333500" y="2651760"/>
            <a:ext cx="822960" cy="822960"/>
          </a:xfrm>
          <a:prstGeom prst="oval">
            <a:avLst/>
          </a:prstGeom>
          <a:solidFill>
            <a:srgbClr val="5B7A99"/>
          </a:solidFill>
          <a:ln/>
        </p:spPr>
      </p:sp>
      <p:pic>
        <p:nvPicPr>
          <p:cNvPr id="22" name="Image 3" descr="/home/claude/presentation/icons/pills_FFFFFF.png">    </p:cNvPr>
          <p:cNvPicPr>
            <a:picLocks noChangeAspect="1"/>
          </p:cNvPicPr>
          <p:nvPr/>
        </p:nvPicPr>
        <p:blipFill>
          <a:blip r:embed="rId4"/>
          <a:stretch>
            <a:fillRect/>
          </a:stretch>
        </p:blipFill>
        <p:spPr>
          <a:xfrm>
            <a:off x="1488948" y="2807208"/>
            <a:ext cx="512064" cy="512064"/>
          </a:xfrm>
          <a:prstGeom prst="rect">
            <a:avLst/>
          </a:prstGeom>
        </p:spPr>
      </p:pic>
      <p:sp>
        <p:nvSpPr>
          <p:cNvPr id="23" name="Text 17"/>
          <p:cNvSpPr/>
          <p:nvPr/>
        </p:nvSpPr>
        <p:spPr>
          <a:xfrm>
            <a:off x="579120" y="3611880"/>
            <a:ext cx="2331720" cy="457200"/>
          </a:xfrm>
          <a:prstGeom prst="rect">
            <a:avLst/>
          </a:prstGeom>
          <a:noFill/>
          <a:ln/>
        </p:spPr>
        <p:txBody>
          <a:bodyPr wrap="square" rtlCol="0" anchor="ctr"/>
          <a:lstStyle/>
          <a:p>
            <a:pPr rtl="1" algn="ctr" indent="0" marL="0">
              <a:buNone/>
            </a:pPr>
            <a:r>
              <a:rPr lang="en-US" sz="1400" b="1" dirty="0">
                <a:solidFill>
                  <a:srgbClr val="1B3A5C"/>
                </a:solidFill>
                <a:latin typeface="Arial" pitchFamily="34" charset="0"/>
                <a:ea typeface="Arial" pitchFamily="34" charset="-122"/>
                <a:cs typeface="Arial" pitchFamily="34" charset="-120"/>
              </a:rPr>
              <a:t>الصيدليات</a:t>
            </a:r>
            <a:endParaRPr lang="en-US" sz="1400" dirty="0"/>
          </a:p>
        </p:txBody>
      </p:sp>
      <p:sp>
        <p:nvSpPr>
          <p:cNvPr id="24" name="Text 18"/>
          <p:cNvSpPr/>
          <p:nvPr/>
        </p:nvSpPr>
        <p:spPr>
          <a:xfrm>
            <a:off x="624840" y="4114800"/>
            <a:ext cx="2240280" cy="1280160"/>
          </a:xfrm>
          <a:prstGeom prst="rect">
            <a:avLst/>
          </a:prstGeom>
          <a:noFill/>
          <a:ln/>
        </p:spPr>
        <p:txBody>
          <a:bodyPr wrap="square" rtlCol="0" anchor="t"/>
          <a:lstStyle/>
          <a:p>
            <a:pPr rtl="1" algn="ctr" indent="0" marL="0">
              <a:buNone/>
            </a:pPr>
            <a:r>
              <a:rPr lang="en-US" sz="1150" dirty="0">
                <a:solidFill>
                  <a:srgbClr val="64748B"/>
                </a:solidFill>
                <a:latin typeface="Arial" pitchFamily="34" charset="0"/>
                <a:ea typeface="Arial" pitchFamily="34" charset="-122"/>
                <a:cs typeface="Arial" pitchFamily="34" charset="-120"/>
              </a:rPr>
              <a:t>أدوية ومستلزمات طبية، بعضها يعمل على مدار الساعة</a:t>
            </a:r>
            <a:endParaRPr lang="en-US" sz="1150" dirty="0"/>
          </a:p>
        </p:txBody>
      </p:sp>
      <p:sp>
        <p:nvSpPr>
          <p:cNvPr id="25" name="Text 19"/>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26" name="Text 20"/>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التحديات الميدانية المرتبطة بجمع البيانات</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Field Challenges</a:t>
            </a:r>
            <a:endParaRPr lang="en-US" sz="1400" dirty="0"/>
          </a:p>
        </p:txBody>
      </p:sp>
      <p:sp>
        <p:nvSpPr>
          <p:cNvPr id="4" name="Shape 2"/>
          <p:cNvSpPr/>
          <p:nvPr/>
        </p:nvSpPr>
        <p:spPr>
          <a:xfrm>
            <a:off x="10911840" y="1810512"/>
            <a:ext cx="640080" cy="640080"/>
          </a:xfrm>
          <a:prstGeom prst="oval">
            <a:avLst/>
          </a:prstGeom>
          <a:solidFill>
            <a:srgbClr val="1B3A5C"/>
          </a:solidFill>
          <a:ln/>
        </p:spPr>
      </p:sp>
      <p:pic>
        <p:nvPicPr>
          <p:cNvPr id="5" name="Image 0" descr="/home/claude/presentation/icons/search_FFFFFF.png">    </p:cNvPr>
          <p:cNvPicPr>
            <a:picLocks noChangeAspect="1"/>
          </p:cNvPicPr>
          <p:nvPr/>
        </p:nvPicPr>
        <p:blipFill>
          <a:blip r:embed="rId1"/>
          <a:stretch>
            <a:fillRect/>
          </a:stretch>
        </p:blipFill>
        <p:spPr>
          <a:xfrm>
            <a:off x="11067288" y="1965960"/>
            <a:ext cx="329184" cy="329184"/>
          </a:xfrm>
          <a:prstGeom prst="rect">
            <a:avLst/>
          </a:prstGeom>
        </p:spPr>
      </p:pic>
      <p:sp>
        <p:nvSpPr>
          <p:cNvPr id="6" name="Text 3"/>
          <p:cNvSpPr/>
          <p:nvPr/>
        </p:nvSpPr>
        <p:spPr>
          <a:xfrm>
            <a:off x="899160" y="1737360"/>
            <a:ext cx="9784080" cy="777240"/>
          </a:xfrm>
          <a:prstGeom prst="rect">
            <a:avLst/>
          </a:prstGeom>
          <a:noFill/>
          <a:ln/>
        </p:spPr>
        <p:txBody>
          <a:bodyPr wrap="square" rtlCol="0" anchor="ctr"/>
          <a:lstStyle/>
          <a:p>
            <a:pPr rtl="1" algn="r" indent="0" marL="0">
              <a:buNone/>
            </a:pPr>
            <a:r>
              <a:rPr lang="en-US" sz="1600" dirty="0">
                <a:solidFill>
                  <a:srgbClr val="1D2939"/>
                </a:solidFill>
                <a:latin typeface="Arial" pitchFamily="34" charset="0"/>
                <a:ea typeface="Arial" pitchFamily="34" charset="-122"/>
                <a:cs typeface="Arial" pitchFamily="34" charset="-120"/>
              </a:rPr>
              <a:t>غياب سجل رسمي موحد لجميع المرافق الصحية بالمدينة</a:t>
            </a:r>
            <a:endParaRPr lang="en-US" sz="1600" dirty="0"/>
          </a:p>
        </p:txBody>
      </p:sp>
      <p:sp>
        <p:nvSpPr>
          <p:cNvPr id="7" name="Shape 4"/>
          <p:cNvSpPr/>
          <p:nvPr/>
        </p:nvSpPr>
        <p:spPr>
          <a:xfrm>
            <a:off x="10911840" y="2770632"/>
            <a:ext cx="640080" cy="640080"/>
          </a:xfrm>
          <a:prstGeom prst="oval">
            <a:avLst/>
          </a:prstGeom>
          <a:solidFill>
            <a:srgbClr val="1B3A5C"/>
          </a:solidFill>
          <a:ln/>
        </p:spPr>
      </p:sp>
      <p:pic>
        <p:nvPicPr>
          <p:cNvPr id="8" name="Image 1" descr="/home/claude/presentation/icons/marker_FFFFFF.png">    </p:cNvPr>
          <p:cNvPicPr>
            <a:picLocks noChangeAspect="1"/>
          </p:cNvPicPr>
          <p:nvPr/>
        </p:nvPicPr>
        <p:blipFill>
          <a:blip r:embed="rId2"/>
          <a:stretch>
            <a:fillRect/>
          </a:stretch>
        </p:blipFill>
        <p:spPr>
          <a:xfrm>
            <a:off x="11067288" y="2926080"/>
            <a:ext cx="329184" cy="329184"/>
          </a:xfrm>
          <a:prstGeom prst="rect">
            <a:avLst/>
          </a:prstGeom>
        </p:spPr>
      </p:pic>
      <p:sp>
        <p:nvSpPr>
          <p:cNvPr id="9" name="Text 5"/>
          <p:cNvSpPr/>
          <p:nvPr/>
        </p:nvSpPr>
        <p:spPr>
          <a:xfrm>
            <a:off x="899160" y="2697480"/>
            <a:ext cx="9784080" cy="777240"/>
          </a:xfrm>
          <a:prstGeom prst="rect">
            <a:avLst/>
          </a:prstGeom>
          <a:noFill/>
          <a:ln/>
        </p:spPr>
        <p:txBody>
          <a:bodyPr wrap="square" rtlCol="0" anchor="ctr"/>
          <a:lstStyle/>
          <a:p>
            <a:pPr rtl="1" algn="r" indent="0" marL="0">
              <a:buNone/>
            </a:pPr>
            <a:r>
              <a:rPr lang="en-US" sz="1600" dirty="0">
                <a:solidFill>
                  <a:srgbClr val="1D2939"/>
                </a:solidFill>
                <a:latin typeface="Arial" pitchFamily="34" charset="0"/>
                <a:ea typeface="Arial" pitchFamily="34" charset="-122"/>
                <a:cs typeface="Arial" pitchFamily="34" charset="-120"/>
              </a:rPr>
              <a:t>تفاوت دقة العناوين، والاعتماد على وصف المعالم المجاورة</a:t>
            </a:r>
            <a:endParaRPr lang="en-US" sz="1600" dirty="0"/>
          </a:p>
        </p:txBody>
      </p:sp>
      <p:sp>
        <p:nvSpPr>
          <p:cNvPr id="10" name="Shape 6"/>
          <p:cNvSpPr/>
          <p:nvPr/>
        </p:nvSpPr>
        <p:spPr>
          <a:xfrm>
            <a:off x="10911840" y="3730752"/>
            <a:ext cx="640080" cy="640080"/>
          </a:xfrm>
          <a:prstGeom prst="oval">
            <a:avLst/>
          </a:prstGeom>
          <a:solidFill>
            <a:srgbClr val="1B3A5C"/>
          </a:solidFill>
          <a:ln/>
        </p:spPr>
      </p:sp>
      <p:pic>
        <p:nvPicPr>
          <p:cNvPr id="11" name="Image 2" descr="/home/claude/presentation/icons/users_FFFFFF.png">    </p:cNvPr>
          <p:cNvPicPr>
            <a:picLocks noChangeAspect="1"/>
          </p:cNvPicPr>
          <p:nvPr/>
        </p:nvPicPr>
        <p:blipFill>
          <a:blip r:embed="rId3"/>
          <a:stretch>
            <a:fillRect/>
          </a:stretch>
        </p:blipFill>
        <p:spPr>
          <a:xfrm>
            <a:off x="11067288" y="3886200"/>
            <a:ext cx="329184" cy="329184"/>
          </a:xfrm>
          <a:prstGeom prst="rect">
            <a:avLst/>
          </a:prstGeom>
        </p:spPr>
      </p:pic>
      <p:sp>
        <p:nvSpPr>
          <p:cNvPr id="12" name="Text 7"/>
          <p:cNvSpPr/>
          <p:nvPr/>
        </p:nvSpPr>
        <p:spPr>
          <a:xfrm>
            <a:off x="899160" y="3657600"/>
            <a:ext cx="9784080" cy="777240"/>
          </a:xfrm>
          <a:prstGeom prst="rect">
            <a:avLst/>
          </a:prstGeom>
          <a:noFill/>
          <a:ln/>
        </p:spPr>
        <p:txBody>
          <a:bodyPr wrap="square" rtlCol="0" anchor="ctr"/>
          <a:lstStyle/>
          <a:p>
            <a:pPr rtl="1" algn="r" indent="0" marL="0">
              <a:buNone/>
            </a:pPr>
            <a:r>
              <a:rPr lang="en-US" sz="1600" dirty="0">
                <a:solidFill>
                  <a:srgbClr val="1D2939"/>
                </a:solidFill>
                <a:latin typeface="Arial" pitchFamily="34" charset="0"/>
                <a:ea typeface="Arial" pitchFamily="34" charset="-122"/>
                <a:cs typeface="Arial" pitchFamily="34" charset="-120"/>
              </a:rPr>
              <a:t>تفاوت استعداد بعض المرافق للتعاون في تزويد البيانات</a:t>
            </a:r>
            <a:endParaRPr lang="en-US" sz="1600" dirty="0"/>
          </a:p>
        </p:txBody>
      </p:sp>
      <p:sp>
        <p:nvSpPr>
          <p:cNvPr id="13" name="Shape 8"/>
          <p:cNvSpPr/>
          <p:nvPr/>
        </p:nvSpPr>
        <p:spPr>
          <a:xfrm>
            <a:off x="10911840" y="4690872"/>
            <a:ext cx="640080" cy="640080"/>
          </a:xfrm>
          <a:prstGeom prst="oval">
            <a:avLst/>
          </a:prstGeom>
          <a:solidFill>
            <a:srgbClr val="1B3A5C"/>
          </a:solidFill>
          <a:ln/>
        </p:spPr>
      </p:sp>
      <p:pic>
        <p:nvPicPr>
          <p:cNvPr id="14" name="Image 3" descr="/home/claude/presentation/icons/sync_FFFFFF.png">    </p:cNvPr>
          <p:cNvPicPr>
            <a:picLocks noChangeAspect="1"/>
          </p:cNvPicPr>
          <p:nvPr/>
        </p:nvPicPr>
        <p:blipFill>
          <a:blip r:embed="rId4"/>
          <a:stretch>
            <a:fillRect/>
          </a:stretch>
        </p:blipFill>
        <p:spPr>
          <a:xfrm>
            <a:off x="11067288" y="4846320"/>
            <a:ext cx="329184" cy="329184"/>
          </a:xfrm>
          <a:prstGeom prst="rect">
            <a:avLst/>
          </a:prstGeom>
        </p:spPr>
      </p:pic>
      <p:sp>
        <p:nvSpPr>
          <p:cNvPr id="15" name="Text 9"/>
          <p:cNvSpPr/>
          <p:nvPr/>
        </p:nvSpPr>
        <p:spPr>
          <a:xfrm>
            <a:off x="899160" y="4617720"/>
            <a:ext cx="9784080" cy="777240"/>
          </a:xfrm>
          <a:prstGeom prst="rect">
            <a:avLst/>
          </a:prstGeom>
          <a:noFill/>
          <a:ln/>
        </p:spPr>
        <p:txBody>
          <a:bodyPr wrap="square" rtlCol="0" anchor="ctr"/>
          <a:lstStyle/>
          <a:p>
            <a:pPr rtl="1" algn="r" indent="0" marL="0">
              <a:buNone/>
            </a:pPr>
            <a:r>
              <a:rPr lang="en-US" sz="1600" dirty="0">
                <a:solidFill>
                  <a:srgbClr val="1D2939"/>
                </a:solidFill>
                <a:latin typeface="Arial" pitchFamily="34" charset="0"/>
                <a:ea typeface="Arial" pitchFamily="34" charset="-122"/>
                <a:cs typeface="Arial" pitchFamily="34" charset="-120"/>
              </a:rPr>
              <a:t>تغيّر بعض البيانات التشغيلية (الهواتف وساعات العمل) بمرور الوقت</a:t>
            </a:r>
            <a:endParaRPr lang="en-US" sz="1600" dirty="0"/>
          </a:p>
        </p:txBody>
      </p:sp>
      <p:sp>
        <p:nvSpPr>
          <p:cNvPr id="16" name="Text 10"/>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7" name="Text 11"/>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579120" y="457200"/>
            <a:ext cx="11064240" cy="594360"/>
          </a:xfrm>
          <a:prstGeom prst="rect">
            <a:avLst/>
          </a:prstGeom>
          <a:noFill/>
          <a:ln/>
        </p:spPr>
        <p:txBody>
          <a:bodyPr wrap="square" rtlCol="0" anchor="ctr"/>
          <a:lstStyle/>
          <a:p>
            <a:pPr rtl="1" algn="r" indent="0" marL="0">
              <a:buNone/>
            </a:pPr>
            <a:r>
              <a:rPr lang="en-US" sz="2700" b="1" dirty="0">
                <a:solidFill>
                  <a:srgbClr val="FFFFFF"/>
                </a:solidFill>
                <a:latin typeface="Arial" pitchFamily="34" charset="0"/>
                <a:ea typeface="Arial" pitchFamily="34" charset="-122"/>
                <a:cs typeface="Arial" pitchFamily="34" charset="-120"/>
              </a:rPr>
              <a:t>الفجوة العملية ومساهمة البحث</a:t>
            </a:r>
            <a:endParaRPr lang="en-US" sz="2700" dirty="0"/>
          </a:p>
        </p:txBody>
      </p:sp>
      <p:sp>
        <p:nvSpPr>
          <p:cNvPr id="3" name="Text 1"/>
          <p:cNvSpPr/>
          <p:nvPr/>
        </p:nvSpPr>
        <p:spPr>
          <a:xfrm>
            <a:off x="579120" y="1005840"/>
            <a:ext cx="11064240" cy="365760"/>
          </a:xfrm>
          <a:prstGeom prst="rect">
            <a:avLst/>
          </a:prstGeom>
          <a:noFill/>
          <a:ln/>
        </p:spPr>
        <p:txBody>
          <a:bodyPr wrap="square" rtlCol="0" anchor="ctr"/>
          <a:lstStyle/>
          <a:p>
            <a:pPr rtl="1" algn="r" indent="0" marL="0">
              <a:buNone/>
            </a:pPr>
            <a:r>
              <a:rPr lang="en-US" sz="1300" i="1" dirty="0">
                <a:solidFill>
                  <a:srgbClr val="9FB3C8"/>
                </a:solidFill>
                <a:latin typeface="Arial" pitchFamily="34" charset="0"/>
                <a:ea typeface="Arial" pitchFamily="34" charset="-122"/>
                <a:cs typeface="Arial" pitchFamily="34" charset="-120"/>
              </a:rPr>
              <a:t>Practical Gap &amp; Contribution</a:t>
            </a:r>
            <a:endParaRPr lang="en-US" sz="1300" dirty="0"/>
          </a:p>
        </p:txBody>
      </p:sp>
      <p:sp>
        <p:nvSpPr>
          <p:cNvPr id="4" name="Shape 2"/>
          <p:cNvSpPr/>
          <p:nvPr/>
        </p:nvSpPr>
        <p:spPr>
          <a:xfrm>
            <a:off x="7985760" y="1691640"/>
            <a:ext cx="3429000" cy="4297680"/>
          </a:xfrm>
          <a:prstGeom prst="roundRect">
            <a:avLst>
              <a:gd name="adj" fmla="val 3200"/>
            </a:avLst>
          </a:prstGeom>
          <a:solidFill>
            <a:srgbClr val="FFFFFF">
              <a:alpha val="92000"/>
            </a:srgbClr>
          </a:solidFill>
          <a:ln/>
        </p:spPr>
      </p:sp>
      <p:pic>
        <p:nvPicPr>
          <p:cNvPr id="5" name="Image 0" descr="/home/claude/presentation/icons/layers_1B3A5C.png">    </p:cNvPr>
          <p:cNvPicPr>
            <a:picLocks noChangeAspect="1"/>
          </p:cNvPicPr>
          <p:nvPr/>
        </p:nvPicPr>
        <p:blipFill>
          <a:blip r:embed="rId1"/>
          <a:stretch>
            <a:fillRect/>
          </a:stretch>
        </p:blipFill>
        <p:spPr>
          <a:xfrm>
            <a:off x="9380220" y="1965960"/>
            <a:ext cx="640080" cy="640080"/>
          </a:xfrm>
          <a:prstGeom prst="rect">
            <a:avLst/>
          </a:prstGeom>
        </p:spPr>
      </p:pic>
      <p:sp>
        <p:nvSpPr>
          <p:cNvPr id="6" name="Text 3"/>
          <p:cNvSpPr/>
          <p:nvPr/>
        </p:nvSpPr>
        <p:spPr>
          <a:xfrm>
            <a:off x="8168640" y="2743200"/>
            <a:ext cx="3063240" cy="54864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نموذج هجين</a:t>
            </a:r>
            <a:endParaRPr lang="en-US" sz="1600" dirty="0"/>
          </a:p>
        </p:txBody>
      </p:sp>
      <p:sp>
        <p:nvSpPr>
          <p:cNvPr id="7" name="Text 4"/>
          <p:cNvSpPr/>
          <p:nvPr/>
        </p:nvSpPr>
        <p:spPr>
          <a:xfrm>
            <a:off x="8260080" y="3337560"/>
            <a:ext cx="2880360" cy="2377440"/>
          </a:xfrm>
          <a:prstGeom prst="rect">
            <a:avLst/>
          </a:prstGeom>
          <a:noFill/>
          <a:ln/>
        </p:spPr>
        <p:txBody>
          <a:bodyPr wrap="square" rtlCol="0" anchor="t"/>
          <a:lstStyle/>
          <a:p>
            <a:pPr rtl="1" algn="ctr" indent="0" marL="0">
              <a:buNone/>
            </a:pPr>
            <a:r>
              <a:rPr lang="en-US" sz="1300" dirty="0">
                <a:solidFill>
                  <a:srgbClr val="1D2939"/>
                </a:solidFill>
                <a:latin typeface="Arial" pitchFamily="34" charset="0"/>
                <a:ea typeface="Arial" pitchFamily="34" charset="-122"/>
                <a:cs typeface="Arial" pitchFamily="34" charset="-120"/>
              </a:rPr>
              <a:t>SQLite محلي + مزامنة خفيفة عبر GitHub، دون التضحية بالاستقلالية عن الشبكة</a:t>
            </a:r>
            <a:endParaRPr lang="en-US" sz="1300" dirty="0"/>
          </a:p>
        </p:txBody>
      </p:sp>
      <p:sp>
        <p:nvSpPr>
          <p:cNvPr id="8" name="Shape 5"/>
          <p:cNvSpPr/>
          <p:nvPr/>
        </p:nvSpPr>
        <p:spPr>
          <a:xfrm>
            <a:off x="4236720" y="1691640"/>
            <a:ext cx="3429000" cy="4297680"/>
          </a:xfrm>
          <a:prstGeom prst="roundRect">
            <a:avLst>
              <a:gd name="adj" fmla="val 3200"/>
            </a:avLst>
          </a:prstGeom>
          <a:solidFill>
            <a:srgbClr val="FFFFFF">
              <a:alpha val="92000"/>
            </a:srgbClr>
          </a:solidFill>
          <a:ln/>
        </p:spPr>
      </p:sp>
      <p:pic>
        <p:nvPicPr>
          <p:cNvPr id="9" name="Image 1" descr="/home/claude/presentation/icons/cogs_1B3A5C.png">    </p:cNvPr>
          <p:cNvPicPr>
            <a:picLocks noChangeAspect="1"/>
          </p:cNvPicPr>
          <p:nvPr/>
        </p:nvPicPr>
        <p:blipFill>
          <a:blip r:embed="rId2"/>
          <a:stretch>
            <a:fillRect/>
          </a:stretch>
        </p:blipFill>
        <p:spPr>
          <a:xfrm>
            <a:off x="5631180" y="1965960"/>
            <a:ext cx="640080" cy="640080"/>
          </a:xfrm>
          <a:prstGeom prst="rect">
            <a:avLst/>
          </a:prstGeom>
        </p:spPr>
      </p:pic>
      <p:sp>
        <p:nvSpPr>
          <p:cNvPr id="10" name="Text 6"/>
          <p:cNvSpPr/>
          <p:nvPr/>
        </p:nvSpPr>
        <p:spPr>
          <a:xfrm>
            <a:off x="4419600" y="2743200"/>
            <a:ext cx="3063240" cy="54864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لوحة تحكم مستقلة</a:t>
            </a:r>
            <a:endParaRPr lang="en-US" sz="1600" dirty="0"/>
          </a:p>
        </p:txBody>
      </p:sp>
      <p:sp>
        <p:nvSpPr>
          <p:cNvPr id="11" name="Text 7"/>
          <p:cNvSpPr/>
          <p:nvPr/>
        </p:nvSpPr>
        <p:spPr>
          <a:xfrm>
            <a:off x="4511040" y="3337560"/>
            <a:ext cx="2880360" cy="2377440"/>
          </a:xfrm>
          <a:prstGeom prst="rect">
            <a:avLst/>
          </a:prstGeom>
          <a:noFill/>
          <a:ln/>
        </p:spPr>
        <p:txBody>
          <a:bodyPr wrap="square" rtlCol="0" anchor="t"/>
          <a:lstStyle/>
          <a:p>
            <a:pPr rtl="1" algn="ctr" indent="0" marL="0">
              <a:buNone/>
            </a:pPr>
            <a:r>
              <a:rPr lang="en-US" sz="1300" dirty="0">
                <a:solidFill>
                  <a:srgbClr val="1D2939"/>
                </a:solidFill>
                <a:latin typeface="Arial" pitchFamily="34" charset="0"/>
                <a:ea typeface="Arial" pitchFamily="34" charset="-122"/>
                <a:cs typeface="Arial" pitchFamily="34" charset="-120"/>
              </a:rPr>
              <a:t>تحديث البيانات دون خبرة برمجية أو تدخل مطوّر في كل مرة</a:t>
            </a:r>
            <a:endParaRPr lang="en-US" sz="1300" dirty="0"/>
          </a:p>
        </p:txBody>
      </p:sp>
      <p:sp>
        <p:nvSpPr>
          <p:cNvPr id="12" name="Shape 8"/>
          <p:cNvSpPr/>
          <p:nvPr/>
        </p:nvSpPr>
        <p:spPr>
          <a:xfrm>
            <a:off x="487680" y="1691640"/>
            <a:ext cx="3429000" cy="4297680"/>
          </a:xfrm>
          <a:prstGeom prst="roundRect">
            <a:avLst>
              <a:gd name="adj" fmla="val 3200"/>
            </a:avLst>
          </a:prstGeom>
          <a:solidFill>
            <a:srgbClr val="FFFFFF">
              <a:alpha val="92000"/>
            </a:srgbClr>
          </a:solidFill>
          <a:ln/>
        </p:spPr>
      </p:sp>
      <p:pic>
        <p:nvPicPr>
          <p:cNvPr id="13" name="Image 2" descr="/home/claude/presentation/icons/route_1B3A5C.png">    </p:cNvPr>
          <p:cNvPicPr>
            <a:picLocks noChangeAspect="1"/>
          </p:cNvPicPr>
          <p:nvPr/>
        </p:nvPicPr>
        <p:blipFill>
          <a:blip r:embed="rId3"/>
          <a:stretch>
            <a:fillRect/>
          </a:stretch>
        </p:blipFill>
        <p:spPr>
          <a:xfrm>
            <a:off x="1882140" y="1965960"/>
            <a:ext cx="640080" cy="640080"/>
          </a:xfrm>
          <a:prstGeom prst="rect">
            <a:avLst/>
          </a:prstGeom>
        </p:spPr>
      </p:pic>
      <p:sp>
        <p:nvSpPr>
          <p:cNvPr id="14" name="Text 9"/>
          <p:cNvSpPr/>
          <p:nvPr/>
        </p:nvSpPr>
        <p:spPr>
          <a:xfrm>
            <a:off x="670560" y="2743200"/>
            <a:ext cx="3063240" cy="548640"/>
          </a:xfrm>
          <a:prstGeom prst="rect">
            <a:avLst/>
          </a:prstGeom>
          <a:noFill/>
          <a:ln/>
        </p:spPr>
        <p:txBody>
          <a:bodyPr wrap="square" rtlCol="0" anchor="ctr"/>
          <a:lstStyle/>
          <a:p>
            <a:pPr rtl="1" algn="ctr" indent="0" marL="0">
              <a:buNone/>
            </a:pPr>
            <a:r>
              <a:rPr lang="en-US" sz="1600" b="1" dirty="0">
                <a:solidFill>
                  <a:srgbClr val="1B3A5C"/>
                </a:solidFill>
                <a:latin typeface="Arial" pitchFamily="34" charset="0"/>
                <a:ea typeface="Arial" pitchFamily="34" charset="-122"/>
                <a:cs typeface="Arial" pitchFamily="34" charset="-120"/>
              </a:rPr>
              <a:t>روابط خرائط مباشرة</a:t>
            </a:r>
            <a:endParaRPr lang="en-US" sz="1600" dirty="0"/>
          </a:p>
        </p:txBody>
      </p:sp>
      <p:sp>
        <p:nvSpPr>
          <p:cNvPr id="15" name="Text 10"/>
          <p:cNvSpPr/>
          <p:nvPr/>
        </p:nvSpPr>
        <p:spPr>
          <a:xfrm>
            <a:off x="762000" y="3337560"/>
            <a:ext cx="2880360" cy="2377440"/>
          </a:xfrm>
          <a:prstGeom prst="rect">
            <a:avLst/>
          </a:prstGeom>
          <a:noFill/>
          <a:ln/>
        </p:spPr>
        <p:txBody>
          <a:bodyPr wrap="square" rtlCol="0" anchor="t"/>
          <a:lstStyle/>
          <a:p>
            <a:pPr rtl="1" algn="ctr" indent="0" marL="0">
              <a:buNone/>
            </a:pPr>
            <a:r>
              <a:rPr lang="en-US" sz="1300" dirty="0">
                <a:solidFill>
                  <a:srgbClr val="1D2939"/>
                </a:solidFill>
                <a:latin typeface="Arial" pitchFamily="34" charset="0"/>
                <a:ea typeface="Arial" pitchFamily="34" charset="-122"/>
                <a:cs typeface="Arial" pitchFamily="34" charset="-120"/>
              </a:rPr>
              <a:t>استفادة من دقة خرائط جوجل دون أعباء تقنية إضافية على التطبيق</a:t>
            </a:r>
            <a:endParaRPr lang="en-US" sz="1300" dirty="0"/>
          </a:p>
        </p:txBody>
      </p:sp>
      <p:sp>
        <p:nvSpPr>
          <p:cNvPr id="16" name="Text 11"/>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17" name="Text 12"/>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579120" y="320040"/>
            <a:ext cx="11064240" cy="640080"/>
          </a:xfrm>
          <a:prstGeom prst="rect">
            <a:avLst/>
          </a:prstGeom>
          <a:noFill/>
          <a:ln/>
        </p:spPr>
        <p:txBody>
          <a:bodyPr wrap="square" rtlCol="0" anchor="ctr"/>
          <a:lstStyle/>
          <a:p>
            <a:pPr rtl="1" algn="r" indent="0" marL="0">
              <a:buNone/>
            </a:pPr>
            <a:r>
              <a:rPr lang="en-US" sz="3000" b="1" dirty="0">
                <a:solidFill>
                  <a:srgbClr val="1B3A5C"/>
                </a:solidFill>
                <a:latin typeface="Arial" pitchFamily="34" charset="0"/>
                <a:ea typeface="Arial" pitchFamily="34" charset="-122"/>
                <a:cs typeface="Arial" pitchFamily="34" charset="-120"/>
              </a:rPr>
              <a:t>المساهمة على أرض الواقع</a:t>
            </a:r>
            <a:endParaRPr lang="en-US" sz="3000" dirty="0"/>
          </a:p>
        </p:txBody>
      </p:sp>
      <p:sp>
        <p:nvSpPr>
          <p:cNvPr id="3" name="Text 1"/>
          <p:cNvSpPr/>
          <p:nvPr/>
        </p:nvSpPr>
        <p:spPr>
          <a:xfrm>
            <a:off x="579120" y="914400"/>
            <a:ext cx="11064240" cy="365760"/>
          </a:xfrm>
          <a:prstGeom prst="rect">
            <a:avLst/>
          </a:prstGeom>
          <a:noFill/>
          <a:ln/>
        </p:spPr>
        <p:txBody>
          <a:bodyPr wrap="square" rtlCol="0" anchor="ctr"/>
          <a:lstStyle/>
          <a:p>
            <a:pPr rtl="1" algn="r" indent="0" marL="0">
              <a:buNone/>
            </a:pPr>
            <a:r>
              <a:rPr lang="en-US" sz="1400" i="1" dirty="0">
                <a:solidFill>
                  <a:srgbClr val="64748B"/>
                </a:solidFill>
                <a:latin typeface="Arial" pitchFamily="34" charset="0"/>
                <a:ea typeface="Arial" pitchFamily="34" charset="-122"/>
                <a:cs typeface="Arial" pitchFamily="34" charset="-120"/>
              </a:rPr>
              <a:t>Contribution in Action</a:t>
            </a:r>
            <a:endParaRPr lang="en-US" sz="1400" dirty="0"/>
          </a:p>
        </p:txBody>
      </p:sp>
      <p:pic>
        <p:nvPicPr>
          <p:cNvPr id="4" name="Image 0" descr="/home/claude/presentation/images/screen_details.jpg">    </p:cNvPr>
          <p:cNvPicPr>
            <a:picLocks noChangeAspect="1"/>
          </p:cNvPicPr>
          <p:nvPr/>
        </p:nvPicPr>
        <p:blipFill>
          <a:blip r:embed="rId1"/>
          <a:srcRect l="0" r="0" t="-46154" b="-46154"/>
          <a:stretch/>
        </p:blipFill>
        <p:spPr>
          <a:xfrm>
            <a:off x="9265920" y="1737360"/>
            <a:ext cx="2377440" cy="4572000"/>
          </a:xfrm>
          <a:prstGeom prst="rect">
            <a:avLst/>
          </a:prstGeom>
        </p:spPr>
      </p:pic>
      <p:pic>
        <p:nvPicPr>
          <p:cNvPr id="5" name="Image 1" descr="/home/claude/presentation/images/screen_maps.jpg">    </p:cNvPr>
          <p:cNvPicPr>
            <a:picLocks noChangeAspect="1"/>
          </p:cNvPicPr>
          <p:nvPr/>
        </p:nvPicPr>
        <p:blipFill>
          <a:blip r:embed="rId2"/>
          <a:srcRect l="0" r="0" t="-46154" b="-46154"/>
          <a:stretch/>
        </p:blipFill>
        <p:spPr>
          <a:xfrm>
            <a:off x="6568440" y="1737360"/>
            <a:ext cx="2377440" cy="4572000"/>
          </a:xfrm>
          <a:prstGeom prst="rect">
            <a:avLst/>
          </a:prstGeom>
        </p:spPr>
      </p:pic>
      <p:pic>
        <p:nvPicPr>
          <p:cNvPr id="6" name="Image 2" descr="/home/claude/presentation/images/screen_drawer.jpg">    </p:cNvPr>
          <p:cNvPicPr>
            <a:picLocks noChangeAspect="1"/>
          </p:cNvPicPr>
          <p:nvPr/>
        </p:nvPicPr>
        <p:blipFill>
          <a:blip r:embed="rId3"/>
          <a:srcRect l="0" r="0" t="-46154" b="-46154"/>
          <a:stretch/>
        </p:blipFill>
        <p:spPr>
          <a:xfrm>
            <a:off x="3870960" y="1737360"/>
            <a:ext cx="2377440" cy="4572000"/>
          </a:xfrm>
          <a:prstGeom prst="rect">
            <a:avLst/>
          </a:prstGeom>
        </p:spPr>
      </p:pic>
      <p:sp>
        <p:nvSpPr>
          <p:cNvPr id="7" name="Text 2"/>
          <p:cNvSpPr/>
          <p:nvPr/>
        </p:nvSpPr>
        <p:spPr>
          <a:xfrm>
            <a:off x="579120" y="2286000"/>
            <a:ext cx="2926080" cy="3200400"/>
          </a:xfrm>
          <a:prstGeom prst="rect">
            <a:avLst/>
          </a:prstGeom>
          <a:noFill/>
          <a:ln/>
        </p:spPr>
        <p:txBody>
          <a:bodyPr wrap="square" rtlCol="0" anchor="t"/>
          <a:lstStyle/>
          <a:p>
            <a:pPr rtl="1" algn="l" indent="0" marL="0">
              <a:lnSpc>
                <a:spcPct val="160000"/>
              </a:lnSpc>
              <a:buNone/>
            </a:pPr>
            <a:r>
              <a:rPr lang="en-US" sz="1350" b="1" dirty="0">
                <a:solidFill>
                  <a:srgbClr val="1D2939"/>
                </a:solidFill>
                <a:latin typeface="Arial" pitchFamily="34" charset="0"/>
                <a:ea typeface="Arial" pitchFamily="34" charset="-122"/>
                <a:cs typeface="Arial" pitchFamily="34" charset="-120"/>
              </a:rPr>
              <a:t>تفاصيل المنشأة والتقييم</a:t>
            </a:r>
            <a:endParaRPr lang="en-US" sz="1350" dirty="0"/>
          </a:p>
          <a:p>
            <a:pPr rtl="1" algn="l" indent="0" marL="0">
              <a:lnSpc>
                <a:spcPct val="160000"/>
              </a:lnSpc>
              <a:buNone/>
            </a:pPr>
            <a:r>
              <a:rPr lang="en-US" sz="1350" dirty="0">
                <a:solidFill>
                  <a:srgbClr val="1D2939"/>
                </a:solidFill>
                <a:latin typeface="Arial" pitchFamily="34" charset="0"/>
                <a:ea typeface="Arial" pitchFamily="34" charset="-122"/>
                <a:cs typeface="Arial" pitchFamily="34" charset="-120"/>
              </a:rPr>
              <a:t>فتح الموقع في خرائط جوجل مباشرة</a:t>
            </a:r>
            <a:endParaRPr lang="en-US" sz="1350" dirty="0"/>
          </a:p>
          <a:p>
            <a:pPr rtl="1" algn="l" indent="0" marL="0">
              <a:lnSpc>
                <a:spcPct val="160000"/>
              </a:lnSpc>
              <a:buNone/>
            </a:pPr>
            <a:r>
              <a:rPr lang="en-US" sz="1350" dirty="0">
                <a:solidFill>
                  <a:srgbClr val="1D2939"/>
                </a:solidFill>
                <a:latin typeface="Arial" pitchFamily="34" charset="0"/>
                <a:ea typeface="Arial" pitchFamily="34" charset="-122"/>
                <a:cs typeface="Arial" pitchFamily="34" charset="-120"/>
              </a:rPr>
              <a:t>لوحة تحديث البيانات وفريق الدعم</a:t>
            </a:r>
            <a:endParaRPr lang="en-US" sz="1350" dirty="0"/>
          </a:p>
        </p:txBody>
      </p:sp>
      <p:sp>
        <p:nvSpPr>
          <p:cNvPr id="8" name="Text 3"/>
          <p:cNvSpPr/>
          <p:nvPr/>
        </p:nvSpPr>
        <p:spPr>
          <a:xfrm>
            <a:off x="4511040" y="6537960"/>
            <a:ext cx="7315200" cy="274320"/>
          </a:xfrm>
          <a:prstGeom prst="rect">
            <a:avLst/>
          </a:prstGeom>
          <a:noFill/>
          <a:ln/>
        </p:spPr>
        <p:txBody>
          <a:bodyPr wrap="square" rtlCol="0" anchor="ctr"/>
          <a:lstStyle/>
          <a:p>
            <a:pPr rtl="1" algn="r" indent="0" marL="0">
              <a:buNone/>
            </a:pPr>
            <a:r>
              <a:rPr lang="en-US" sz="900" dirty="0">
                <a:solidFill>
                  <a:srgbClr val="64748B"/>
                </a:solidFill>
                <a:latin typeface="Arial" pitchFamily="34" charset="0"/>
                <a:ea typeface="Arial" pitchFamily="34" charset="-122"/>
                <a:cs typeface="Arial" pitchFamily="34" charset="-120"/>
              </a:rPr>
              <a:t>دنقلا كير — دليل الخدمات الصحية بمدينة دنقلا</a:t>
            </a:r>
            <a:endParaRPr lang="en-US" sz="900" dirty="0"/>
          </a:p>
        </p:txBody>
      </p:sp>
      <p:sp>
        <p:nvSpPr>
          <p:cNvPr id="9" name="Text 4"/>
          <p:cNvSpPr/>
          <p:nvPr/>
        </p:nvSpPr>
        <p:spPr>
          <a:xfrm>
            <a:off x="304800" y="6537960"/>
            <a:ext cx="457200" cy="274320"/>
          </a:xfrm>
          <a:prstGeom prst="rect">
            <a:avLst/>
          </a:prstGeom>
          <a:noFill/>
          <a:ln/>
        </p:spPr>
        <p:txBody>
          <a:bodyPr wrap="square" rtlCol="0" anchor="ctr"/>
          <a:lstStyle/>
          <a:p>
            <a:pPr rtl="1" algn="l" indent="0" marL="0">
              <a:buNone/>
            </a:pPr>
            <a:r>
              <a:rPr lang="en-US" sz="900" dirty="0">
                <a:solidFill>
                  <a:srgbClr val="64748B"/>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3A5C"/>
        </a:solidFill>
      </p:bgPr>
    </p:bg>
    <p:spTree>
      <p:nvGrpSpPr>
        <p:cNvPr id="1" name=""/>
        <p:cNvGrpSpPr/>
        <p:nvPr/>
      </p:nvGrpSpPr>
      <p:grpSpPr>
        <a:xfrm>
          <a:off x="0" y="0"/>
          <a:ext cx="0" cy="0"/>
          <a:chOff x="0" y="0"/>
          <a:chExt cx="0" cy="0"/>
        </a:xfrm>
      </p:grpSpPr>
      <p:pic>
        <p:nvPicPr>
          <p:cNvPr id="2" name="Image 0" descr="/home/claude/presentation/images/logo_app.jpg">    </p:cNvPr>
          <p:cNvPicPr>
            <a:picLocks noChangeAspect="1"/>
          </p:cNvPicPr>
          <p:nvPr/>
        </p:nvPicPr>
        <p:blipFill>
          <a:blip r:embed="rId1"/>
          <a:stretch>
            <a:fillRect/>
          </a:stretch>
        </p:blipFill>
        <p:spPr>
          <a:xfrm>
            <a:off x="5187696" y="914400"/>
            <a:ext cx="1828800" cy="1828800"/>
          </a:xfrm>
          <a:prstGeom prst="rect">
            <a:avLst/>
          </a:prstGeom>
        </p:spPr>
      </p:pic>
      <p:sp>
        <p:nvSpPr>
          <p:cNvPr id="3" name="Text 0"/>
          <p:cNvSpPr/>
          <p:nvPr/>
        </p:nvSpPr>
        <p:spPr>
          <a:xfrm>
            <a:off x="917448" y="2926080"/>
            <a:ext cx="10360152" cy="731520"/>
          </a:xfrm>
          <a:prstGeom prst="rect">
            <a:avLst/>
          </a:prstGeom>
          <a:noFill/>
          <a:ln/>
        </p:spPr>
        <p:txBody>
          <a:bodyPr wrap="square" rtlCol="0" anchor="ctr"/>
          <a:lstStyle/>
          <a:p>
            <a:pPr rtl="1" algn="ctr" indent="0" marL="0">
              <a:buNone/>
            </a:pPr>
            <a:r>
              <a:rPr lang="en-US" sz="3200" b="1" dirty="0">
                <a:solidFill>
                  <a:srgbClr val="FFFFFF"/>
                </a:solidFill>
                <a:latin typeface="Arial" pitchFamily="34" charset="0"/>
                <a:ea typeface="Arial" pitchFamily="34" charset="-122"/>
                <a:cs typeface="Arial" pitchFamily="34" charset="-120"/>
              </a:rPr>
              <a:t>شكراً لحسن استماعكم</a:t>
            </a:r>
            <a:endParaRPr lang="en-US" sz="3200" dirty="0"/>
          </a:p>
        </p:txBody>
      </p:sp>
      <p:sp>
        <p:nvSpPr>
          <p:cNvPr id="4" name="Text 1"/>
          <p:cNvSpPr/>
          <p:nvPr/>
        </p:nvSpPr>
        <p:spPr>
          <a:xfrm>
            <a:off x="917448" y="3657600"/>
            <a:ext cx="10360152" cy="457200"/>
          </a:xfrm>
          <a:prstGeom prst="rect">
            <a:avLst/>
          </a:prstGeom>
          <a:noFill/>
          <a:ln/>
        </p:spPr>
        <p:txBody>
          <a:bodyPr wrap="square" rtlCol="0" anchor="ctr"/>
          <a:lstStyle/>
          <a:p>
            <a:pPr rtl="1" algn="ctr" indent="0" marL="0">
              <a:buNone/>
            </a:pPr>
            <a:r>
              <a:rPr lang="en-US" sz="1600" dirty="0">
                <a:solidFill>
                  <a:srgbClr val="9FB3C8"/>
                </a:solidFill>
                <a:latin typeface="Arial" pitchFamily="34" charset="0"/>
                <a:ea typeface="Arial" pitchFamily="34" charset="-122"/>
                <a:cs typeface="Arial" pitchFamily="34" charset="-120"/>
              </a:rPr>
              <a:t>الأسئلة والمناقشة</a:t>
            </a:r>
            <a:endParaRPr lang="en-US" sz="1600" dirty="0"/>
          </a:p>
        </p:txBody>
      </p:sp>
      <p:sp>
        <p:nvSpPr>
          <p:cNvPr id="5" name="Shape 2"/>
          <p:cNvSpPr/>
          <p:nvPr/>
        </p:nvSpPr>
        <p:spPr>
          <a:xfrm>
            <a:off x="3203448" y="4343400"/>
            <a:ext cx="5788152" cy="0"/>
          </a:xfrm>
          <a:prstGeom prst="line">
            <a:avLst/>
          </a:prstGeom>
          <a:noFill/>
          <a:ln w="12700">
            <a:solidFill>
              <a:srgbClr val="5B7A99"/>
            </a:solidFill>
            <a:prstDash val="solid"/>
          </a:ln>
        </p:spPr>
      </p:sp>
      <p:sp>
        <p:nvSpPr>
          <p:cNvPr id="6" name="Text 3"/>
          <p:cNvSpPr/>
          <p:nvPr/>
        </p:nvSpPr>
        <p:spPr>
          <a:xfrm>
            <a:off x="917448" y="4572000"/>
            <a:ext cx="10360152" cy="1371600"/>
          </a:xfrm>
          <a:prstGeom prst="rect">
            <a:avLst/>
          </a:prstGeom>
          <a:noFill/>
          <a:ln/>
        </p:spPr>
        <p:txBody>
          <a:bodyPr wrap="square" rtlCol="0" anchor="ctr"/>
          <a:lstStyle/>
          <a:p>
            <a:pPr rtl="1" algn="ctr" indent="0" marL="0">
              <a:lnSpc>
                <a:spcPct val="140000"/>
              </a:lnSpc>
              <a:buNone/>
            </a:pPr>
            <a:r>
              <a:rPr lang="en-US" sz="1400" dirty="0">
                <a:solidFill>
                  <a:srgbClr val="FFFFFF"/>
                </a:solidFill>
                <a:latin typeface="Arial" pitchFamily="34" charset="0"/>
                <a:ea typeface="Arial" pitchFamily="34" charset="-122"/>
                <a:cs typeface="Arial" pitchFamily="34" charset="-120"/>
              </a:rPr>
              <a:t>مصعب عبدالوهاب عبدالرحمن البكري</a:t>
            </a:r>
            <a:endParaRPr lang="en-US" sz="1400" dirty="0"/>
          </a:p>
          <a:p>
            <a:pPr rtl="1" algn="ctr" indent="0" marL="0">
              <a:lnSpc>
                <a:spcPct val="140000"/>
              </a:lnSpc>
              <a:buNone/>
            </a:pPr>
            <a:r>
              <a:rPr lang="en-US" sz="1400" dirty="0">
                <a:solidFill>
                  <a:srgbClr val="FFFFFF"/>
                </a:solidFill>
                <a:latin typeface="Arial" pitchFamily="34" charset="0"/>
                <a:ea typeface="Arial" pitchFamily="34" charset="-122"/>
                <a:cs typeface="Arial" pitchFamily="34" charset="-120"/>
              </a:rPr>
              <a:t>راشد إسحاق إبراهيم إسماعيل</a:t>
            </a:r>
            <a:endParaRPr lang="en-US" sz="1400" dirty="0"/>
          </a:p>
          <a:p>
            <a:pPr rtl="1" algn="ctr" indent="0" marL="0">
              <a:lnSpc>
                <a:spcPct val="140000"/>
              </a:lnSpc>
              <a:buNone/>
            </a:pPr>
            <a:r>
              <a:rPr lang="en-US" sz="1400" dirty="0">
                <a:solidFill>
                  <a:srgbClr val="FFFFFF"/>
                </a:solidFill>
                <a:latin typeface="Arial" pitchFamily="34" charset="0"/>
                <a:ea typeface="Arial" pitchFamily="34" charset="-122"/>
                <a:cs typeface="Arial" pitchFamily="34" charset="-120"/>
              </a:rPr>
              <a:t>محمد عطا ساتي شريف</a:t>
            </a:r>
            <a:endParaRPr lang="en-US" sz="1400" dirty="0"/>
          </a:p>
          <a:p>
            <a:pPr rtl="1" algn="ctr" indent="0" marL="0">
              <a:lnSpc>
                <a:spcPct val="140000"/>
              </a:lnSpc>
              <a:buNone/>
            </a:pPr>
            <a:r>
              <a:rPr lang="en-US" sz="1400" dirty="0">
                <a:solidFill>
                  <a:srgbClr val="FFFFFF"/>
                </a:solidFill>
                <a:latin typeface="Arial" pitchFamily="34" charset="0"/>
                <a:ea typeface="Arial" pitchFamily="34" charset="-122"/>
                <a:cs typeface="Arial" pitchFamily="34" charset="-120"/>
              </a:rPr>
              <a:t>كمال خليفة عزالدين خليفة</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2026-08-03T04:28:10Z</dcterms:created>
  <dcterms:modified xsi:type="dcterms:W3CDTF">2026-08-03T04:28:10Z</dcterms:modified>
</cp:coreProperties>
</file>